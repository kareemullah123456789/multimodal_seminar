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6"/>
  </p:notesMasterIdLst>
  <p:handoutMasterIdLst>
    <p:handoutMasterId r:id="rId117"/>
  </p:handoutMasterIdLst>
  <p:sldIdLst>
    <p:sldId id="256" r:id="rId2"/>
    <p:sldId id="266" r:id="rId3"/>
    <p:sldId id="258" r:id="rId4"/>
    <p:sldId id="257" r:id="rId5"/>
    <p:sldId id="260" r:id="rId6"/>
    <p:sldId id="342" r:id="rId7"/>
    <p:sldId id="343" r:id="rId8"/>
    <p:sldId id="344" r:id="rId9"/>
    <p:sldId id="265" r:id="rId10"/>
    <p:sldId id="262" r:id="rId11"/>
    <p:sldId id="296" r:id="rId12"/>
    <p:sldId id="267" r:id="rId13"/>
    <p:sldId id="268" r:id="rId14"/>
    <p:sldId id="352" r:id="rId15"/>
    <p:sldId id="353" r:id="rId16"/>
    <p:sldId id="354" r:id="rId17"/>
    <p:sldId id="355" r:id="rId18"/>
    <p:sldId id="356" r:id="rId19"/>
    <p:sldId id="357" r:id="rId20"/>
    <p:sldId id="358" r:id="rId21"/>
    <p:sldId id="359" r:id="rId22"/>
    <p:sldId id="360" r:id="rId23"/>
    <p:sldId id="361" r:id="rId24"/>
    <p:sldId id="362" r:id="rId25"/>
    <p:sldId id="363" r:id="rId26"/>
    <p:sldId id="364" r:id="rId27"/>
    <p:sldId id="365" r:id="rId28"/>
    <p:sldId id="366" r:id="rId29"/>
    <p:sldId id="367" r:id="rId30"/>
    <p:sldId id="369" r:id="rId31"/>
    <p:sldId id="368" r:id="rId32"/>
    <p:sldId id="370" r:id="rId33"/>
    <p:sldId id="269" r:id="rId34"/>
    <p:sldId id="271" r:id="rId35"/>
    <p:sldId id="272" r:id="rId36"/>
    <p:sldId id="273" r:id="rId37"/>
    <p:sldId id="274" r:id="rId38"/>
    <p:sldId id="275" r:id="rId39"/>
    <p:sldId id="276" r:id="rId40"/>
    <p:sldId id="277" r:id="rId41"/>
    <p:sldId id="278" r:id="rId42"/>
    <p:sldId id="279" r:id="rId43"/>
    <p:sldId id="270" r:id="rId44"/>
    <p:sldId id="280" r:id="rId45"/>
    <p:sldId id="259" r:id="rId46"/>
    <p:sldId id="282" r:id="rId47"/>
    <p:sldId id="283" r:id="rId48"/>
    <p:sldId id="284" r:id="rId49"/>
    <p:sldId id="285" r:id="rId50"/>
    <p:sldId id="290" r:id="rId51"/>
    <p:sldId id="291" r:id="rId52"/>
    <p:sldId id="292" r:id="rId53"/>
    <p:sldId id="293" r:id="rId54"/>
    <p:sldId id="294" r:id="rId55"/>
    <p:sldId id="286" r:id="rId56"/>
    <p:sldId id="287" r:id="rId57"/>
    <p:sldId id="295" r:id="rId58"/>
    <p:sldId id="288" r:id="rId59"/>
    <p:sldId id="289" r:id="rId60"/>
    <p:sldId id="261" r:id="rId61"/>
    <p:sldId id="263" r:id="rId62"/>
    <p:sldId id="264" r:id="rId63"/>
    <p:sldId id="322" r:id="rId64"/>
    <p:sldId id="297" r:id="rId65"/>
    <p:sldId id="298" r:id="rId66"/>
    <p:sldId id="300" r:id="rId67"/>
    <p:sldId id="299" r:id="rId68"/>
    <p:sldId id="301" r:id="rId69"/>
    <p:sldId id="303" r:id="rId70"/>
    <p:sldId id="304" r:id="rId71"/>
    <p:sldId id="306" r:id="rId72"/>
    <p:sldId id="307" r:id="rId73"/>
    <p:sldId id="308" r:id="rId74"/>
    <p:sldId id="309" r:id="rId75"/>
    <p:sldId id="310" r:id="rId76"/>
    <p:sldId id="323" r:id="rId77"/>
    <p:sldId id="324" r:id="rId78"/>
    <p:sldId id="325" r:id="rId79"/>
    <p:sldId id="326" r:id="rId80"/>
    <p:sldId id="327" r:id="rId81"/>
    <p:sldId id="328" r:id="rId82"/>
    <p:sldId id="329" r:id="rId83"/>
    <p:sldId id="330" r:id="rId84"/>
    <p:sldId id="331" r:id="rId85"/>
    <p:sldId id="335" r:id="rId86"/>
    <p:sldId id="336" r:id="rId87"/>
    <p:sldId id="337" r:id="rId88"/>
    <p:sldId id="338" r:id="rId89"/>
    <p:sldId id="340" r:id="rId90"/>
    <p:sldId id="339" r:id="rId91"/>
    <p:sldId id="341" r:id="rId92"/>
    <p:sldId id="332" r:id="rId93"/>
    <p:sldId id="333" r:id="rId94"/>
    <p:sldId id="311" r:id="rId95"/>
    <p:sldId id="334" r:id="rId96"/>
    <p:sldId id="312" r:id="rId97"/>
    <p:sldId id="305" r:id="rId98"/>
    <p:sldId id="302" r:id="rId99"/>
    <p:sldId id="313" r:id="rId100"/>
    <p:sldId id="314" r:id="rId101"/>
    <p:sldId id="315" r:id="rId102"/>
    <p:sldId id="316" r:id="rId103"/>
    <p:sldId id="317" r:id="rId104"/>
    <p:sldId id="318" r:id="rId105"/>
    <p:sldId id="319" r:id="rId106"/>
    <p:sldId id="320" r:id="rId107"/>
    <p:sldId id="345" r:id="rId108"/>
    <p:sldId id="346" r:id="rId109"/>
    <p:sldId id="347" r:id="rId110"/>
    <p:sldId id="348" r:id="rId111"/>
    <p:sldId id="349" r:id="rId112"/>
    <p:sldId id="350" r:id="rId113"/>
    <p:sldId id="351" r:id="rId114"/>
    <p:sldId id="321" r:id="rId1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6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handoutMaster" Target="handoutMasters/handoutMaster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viewProps" Target="view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5EAD33C-4EA6-F1DB-5680-1B1109132E1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656F02F7-B609-B6BE-4C6B-783338C66F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FD8D62A-5288-4B69-86E0-C5B009498A67}" type="datetimeFigureOut">
              <a:rPr lang="en-IN" smtClean="0"/>
              <a:t>24-11-2025</a:t>
            </a:fld>
            <a:endParaRPr lang="en-IN"/>
          </a:p>
        </p:txBody>
      </p:sp>
      <p:sp>
        <p:nvSpPr>
          <p:cNvPr id="4" name="Footer Placeholder 3">
            <a:extLst>
              <a:ext uri="{FF2B5EF4-FFF2-40B4-BE49-F238E27FC236}">
                <a16:creationId xmlns:a16="http://schemas.microsoft.com/office/drawing/2014/main" id="{6BF188F9-9D19-2099-9EB3-CA15794C831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A77EE8F4-84C1-2291-5703-443CF953347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21D1826-63E0-447E-880D-933BC1517093}" type="slidenum">
              <a:rPr lang="en-IN" smtClean="0"/>
              <a:t>‹#›</a:t>
            </a:fld>
            <a:endParaRPr lang="en-IN"/>
          </a:p>
        </p:txBody>
      </p:sp>
    </p:spTree>
    <p:extLst>
      <p:ext uri="{BB962C8B-B14F-4D97-AF65-F5344CB8AC3E}">
        <p14:creationId xmlns:p14="http://schemas.microsoft.com/office/powerpoint/2010/main" val="342729665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38ECA7-C372-4112-8058-2239146CAC33}" type="datetimeFigureOut">
              <a:rPr lang="en-IN" smtClean="0"/>
              <a:t>24-11-2025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B5C362-0DD0-4E41-A527-AF74DD6AB4E2}" type="slidenum">
              <a:rPr lang="en-IN" smtClean="0"/>
              <a:t>‹#›</a:t>
            </a:fld>
            <a:endParaRPr lang="en-IN"/>
          </a:p>
        </p:txBody>
      </p:sp>
    </p:spTree>
    <p:extLst>
      <p:ext uri="{BB962C8B-B14F-4D97-AF65-F5344CB8AC3E}">
        <p14:creationId xmlns:p14="http://schemas.microsoft.com/office/powerpoint/2010/main" val="3630683662"/>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263059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1A8B4-DE3D-C269-CE36-F959383068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C519D1C-1AB2-1EBE-B0F0-88EB98E715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BEA8711-731F-A13F-6DA4-10B82DE2674F}"/>
              </a:ext>
            </a:extLst>
          </p:cNvPr>
          <p:cNvSpPr>
            <a:spLocks noGrp="1"/>
          </p:cNvSpPr>
          <p:nvPr>
            <p:ph type="dt" sz="half" idx="10"/>
          </p:nvPr>
        </p:nvSpPr>
        <p:spPr/>
        <p:txBody>
          <a:bodyPr/>
          <a:lstStyle/>
          <a:p>
            <a:fld id="{25C9958D-F175-4481-9A28-B0A9C3899798}" type="datetimeFigureOut">
              <a:rPr lang="en-IN" smtClean="0"/>
              <a:t>24-11-2025</a:t>
            </a:fld>
            <a:endParaRPr lang="en-IN"/>
          </a:p>
        </p:txBody>
      </p:sp>
      <p:sp>
        <p:nvSpPr>
          <p:cNvPr id="5" name="Footer Placeholder 4">
            <a:extLst>
              <a:ext uri="{FF2B5EF4-FFF2-40B4-BE49-F238E27FC236}">
                <a16:creationId xmlns:a16="http://schemas.microsoft.com/office/drawing/2014/main" id="{354FEEC3-950D-1F66-68BB-AD65BEDB3E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5711F9-68FF-52F3-2586-13873C565D77}"/>
              </a:ext>
            </a:extLst>
          </p:cNvPr>
          <p:cNvSpPr>
            <a:spLocks noGrp="1"/>
          </p:cNvSpPr>
          <p:nvPr>
            <p:ph type="sldNum" sz="quarter" idx="12"/>
          </p:nvPr>
        </p:nvSpPr>
        <p:spPr/>
        <p:txBody>
          <a:bodyPr/>
          <a:lstStyle/>
          <a:p>
            <a:fld id="{315BFC04-2D9A-4F49-8BA1-6A92D38D9141}" type="slidenum">
              <a:rPr lang="en-IN" smtClean="0"/>
              <a:t>‹#›</a:t>
            </a:fld>
            <a:endParaRPr lang="en-IN"/>
          </a:p>
        </p:txBody>
      </p:sp>
    </p:spTree>
    <p:extLst>
      <p:ext uri="{BB962C8B-B14F-4D97-AF65-F5344CB8AC3E}">
        <p14:creationId xmlns:p14="http://schemas.microsoft.com/office/powerpoint/2010/main" val="30528923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FAD1E-4AC7-9BFA-9498-01730506368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B201718-AE82-CFB9-77C8-E34934D019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A2692E-92AC-5A8A-DFC7-30808D2829B9}"/>
              </a:ext>
            </a:extLst>
          </p:cNvPr>
          <p:cNvSpPr>
            <a:spLocks noGrp="1"/>
          </p:cNvSpPr>
          <p:nvPr>
            <p:ph type="dt" sz="half" idx="10"/>
          </p:nvPr>
        </p:nvSpPr>
        <p:spPr/>
        <p:txBody>
          <a:bodyPr/>
          <a:lstStyle/>
          <a:p>
            <a:fld id="{25C9958D-F175-4481-9A28-B0A9C3899798}" type="datetimeFigureOut">
              <a:rPr lang="en-IN" smtClean="0"/>
              <a:t>24-11-2025</a:t>
            </a:fld>
            <a:endParaRPr lang="en-IN"/>
          </a:p>
        </p:txBody>
      </p:sp>
      <p:sp>
        <p:nvSpPr>
          <p:cNvPr id="5" name="Footer Placeholder 4">
            <a:extLst>
              <a:ext uri="{FF2B5EF4-FFF2-40B4-BE49-F238E27FC236}">
                <a16:creationId xmlns:a16="http://schemas.microsoft.com/office/drawing/2014/main" id="{AC932133-28C2-F336-5B8C-B1369B8D66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6DAC71-FA75-1CBB-962C-EEC018CAF211}"/>
              </a:ext>
            </a:extLst>
          </p:cNvPr>
          <p:cNvSpPr>
            <a:spLocks noGrp="1"/>
          </p:cNvSpPr>
          <p:nvPr>
            <p:ph type="sldNum" sz="quarter" idx="12"/>
          </p:nvPr>
        </p:nvSpPr>
        <p:spPr/>
        <p:txBody>
          <a:bodyPr/>
          <a:lstStyle/>
          <a:p>
            <a:fld id="{315BFC04-2D9A-4F49-8BA1-6A92D38D9141}" type="slidenum">
              <a:rPr lang="en-IN" smtClean="0"/>
              <a:t>‹#›</a:t>
            </a:fld>
            <a:endParaRPr lang="en-IN"/>
          </a:p>
        </p:txBody>
      </p:sp>
    </p:spTree>
    <p:extLst>
      <p:ext uri="{BB962C8B-B14F-4D97-AF65-F5344CB8AC3E}">
        <p14:creationId xmlns:p14="http://schemas.microsoft.com/office/powerpoint/2010/main" val="2593179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30AB4-4CC8-A2BC-2CB2-AC51A3EDEF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C52E909-E78E-7C6D-8669-E6BA9C9DB33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EDB8F7-AC20-8C75-DE56-46E1CE902FD4}"/>
              </a:ext>
            </a:extLst>
          </p:cNvPr>
          <p:cNvSpPr>
            <a:spLocks noGrp="1"/>
          </p:cNvSpPr>
          <p:nvPr>
            <p:ph type="dt" sz="half" idx="10"/>
          </p:nvPr>
        </p:nvSpPr>
        <p:spPr/>
        <p:txBody>
          <a:bodyPr/>
          <a:lstStyle/>
          <a:p>
            <a:fld id="{25C9958D-F175-4481-9A28-B0A9C3899798}" type="datetimeFigureOut">
              <a:rPr lang="en-IN" smtClean="0"/>
              <a:t>24-11-2025</a:t>
            </a:fld>
            <a:endParaRPr lang="en-IN"/>
          </a:p>
        </p:txBody>
      </p:sp>
      <p:sp>
        <p:nvSpPr>
          <p:cNvPr id="5" name="Footer Placeholder 4">
            <a:extLst>
              <a:ext uri="{FF2B5EF4-FFF2-40B4-BE49-F238E27FC236}">
                <a16:creationId xmlns:a16="http://schemas.microsoft.com/office/drawing/2014/main" id="{32539497-84AE-07AE-BD4B-9AD92CA119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28625E-0FBB-F51F-0383-31F9EBCB2F0B}"/>
              </a:ext>
            </a:extLst>
          </p:cNvPr>
          <p:cNvSpPr>
            <a:spLocks noGrp="1"/>
          </p:cNvSpPr>
          <p:nvPr>
            <p:ph type="sldNum" sz="quarter" idx="12"/>
          </p:nvPr>
        </p:nvSpPr>
        <p:spPr/>
        <p:txBody>
          <a:bodyPr/>
          <a:lstStyle/>
          <a:p>
            <a:fld id="{315BFC04-2D9A-4F49-8BA1-6A92D38D9141}" type="slidenum">
              <a:rPr lang="en-IN" smtClean="0"/>
              <a:t>‹#›</a:t>
            </a:fld>
            <a:endParaRPr lang="en-IN"/>
          </a:p>
        </p:txBody>
      </p:sp>
    </p:spTree>
    <p:extLst>
      <p:ext uri="{BB962C8B-B14F-4D97-AF65-F5344CB8AC3E}">
        <p14:creationId xmlns:p14="http://schemas.microsoft.com/office/powerpoint/2010/main" val="1104012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A8CEA-C6B1-FF35-4489-100F6CA8390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8306E4F-4904-FC21-1715-96F4A75F7C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8EA0AE1-19E3-1A4C-F91C-9ED27EB4416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48F2D07-F616-E175-D450-F8E74D57E931}"/>
              </a:ext>
            </a:extLst>
          </p:cNvPr>
          <p:cNvSpPr>
            <a:spLocks noGrp="1"/>
          </p:cNvSpPr>
          <p:nvPr>
            <p:ph type="dt" sz="half" idx="10"/>
          </p:nvPr>
        </p:nvSpPr>
        <p:spPr/>
        <p:txBody>
          <a:bodyPr/>
          <a:lstStyle/>
          <a:p>
            <a:fld id="{25C9958D-F175-4481-9A28-B0A9C3899798}" type="datetimeFigureOut">
              <a:rPr lang="en-IN" smtClean="0"/>
              <a:t>24-11-2025</a:t>
            </a:fld>
            <a:endParaRPr lang="en-IN"/>
          </a:p>
        </p:txBody>
      </p:sp>
      <p:sp>
        <p:nvSpPr>
          <p:cNvPr id="6" name="Footer Placeholder 5">
            <a:extLst>
              <a:ext uri="{FF2B5EF4-FFF2-40B4-BE49-F238E27FC236}">
                <a16:creationId xmlns:a16="http://schemas.microsoft.com/office/drawing/2014/main" id="{08D931BF-517E-FD3D-0798-97FBAA96FB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90365F1-1A08-0171-C7EE-C3B4ED561EEF}"/>
              </a:ext>
            </a:extLst>
          </p:cNvPr>
          <p:cNvSpPr>
            <a:spLocks noGrp="1"/>
          </p:cNvSpPr>
          <p:nvPr>
            <p:ph type="sldNum" sz="quarter" idx="12"/>
          </p:nvPr>
        </p:nvSpPr>
        <p:spPr/>
        <p:txBody>
          <a:bodyPr/>
          <a:lstStyle/>
          <a:p>
            <a:fld id="{315BFC04-2D9A-4F49-8BA1-6A92D38D9141}" type="slidenum">
              <a:rPr lang="en-IN" smtClean="0"/>
              <a:t>‹#›</a:t>
            </a:fld>
            <a:endParaRPr lang="en-IN"/>
          </a:p>
        </p:txBody>
      </p:sp>
    </p:spTree>
    <p:extLst>
      <p:ext uri="{BB962C8B-B14F-4D97-AF65-F5344CB8AC3E}">
        <p14:creationId xmlns:p14="http://schemas.microsoft.com/office/powerpoint/2010/main" val="127866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9212D-497C-0524-449D-0A5BB302198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959FE65-93E1-952D-BD3F-4B6F3876B5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CA7AF9-C3B1-BD9D-1A2A-64C4FF4B99B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18879C4-7DB9-CD95-6497-5B7CF86296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26E326-7695-E2B0-295F-C0D118D48FB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F7212EB-D8BC-6870-E1C7-45A5D82AF076}"/>
              </a:ext>
            </a:extLst>
          </p:cNvPr>
          <p:cNvSpPr>
            <a:spLocks noGrp="1"/>
          </p:cNvSpPr>
          <p:nvPr>
            <p:ph type="dt" sz="half" idx="10"/>
          </p:nvPr>
        </p:nvSpPr>
        <p:spPr/>
        <p:txBody>
          <a:bodyPr/>
          <a:lstStyle/>
          <a:p>
            <a:fld id="{25C9958D-F175-4481-9A28-B0A9C3899798}" type="datetimeFigureOut">
              <a:rPr lang="en-IN" smtClean="0"/>
              <a:t>24-11-2025</a:t>
            </a:fld>
            <a:endParaRPr lang="en-IN"/>
          </a:p>
        </p:txBody>
      </p:sp>
      <p:sp>
        <p:nvSpPr>
          <p:cNvPr id="8" name="Footer Placeholder 7">
            <a:extLst>
              <a:ext uri="{FF2B5EF4-FFF2-40B4-BE49-F238E27FC236}">
                <a16:creationId xmlns:a16="http://schemas.microsoft.com/office/drawing/2014/main" id="{462C7198-49DC-8BD8-ABFB-8E999AC24CC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4E00FA8-334B-77ED-BB36-3D0A7E524B32}"/>
              </a:ext>
            </a:extLst>
          </p:cNvPr>
          <p:cNvSpPr>
            <a:spLocks noGrp="1"/>
          </p:cNvSpPr>
          <p:nvPr>
            <p:ph type="sldNum" sz="quarter" idx="12"/>
          </p:nvPr>
        </p:nvSpPr>
        <p:spPr/>
        <p:txBody>
          <a:bodyPr/>
          <a:lstStyle/>
          <a:p>
            <a:fld id="{315BFC04-2D9A-4F49-8BA1-6A92D38D9141}" type="slidenum">
              <a:rPr lang="en-IN" smtClean="0"/>
              <a:t>‹#›</a:t>
            </a:fld>
            <a:endParaRPr lang="en-IN"/>
          </a:p>
        </p:txBody>
      </p:sp>
    </p:spTree>
    <p:extLst>
      <p:ext uri="{BB962C8B-B14F-4D97-AF65-F5344CB8AC3E}">
        <p14:creationId xmlns:p14="http://schemas.microsoft.com/office/powerpoint/2010/main" val="3023803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4F3E0-BAA7-815B-E2BB-8B6174A404C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B4DBF25-4836-D159-649B-ED410BFA32B4}"/>
              </a:ext>
            </a:extLst>
          </p:cNvPr>
          <p:cNvSpPr>
            <a:spLocks noGrp="1"/>
          </p:cNvSpPr>
          <p:nvPr>
            <p:ph type="dt" sz="half" idx="10"/>
          </p:nvPr>
        </p:nvSpPr>
        <p:spPr/>
        <p:txBody>
          <a:bodyPr/>
          <a:lstStyle/>
          <a:p>
            <a:fld id="{25C9958D-F175-4481-9A28-B0A9C3899798}" type="datetimeFigureOut">
              <a:rPr lang="en-IN" smtClean="0"/>
              <a:t>24-11-2025</a:t>
            </a:fld>
            <a:endParaRPr lang="en-IN"/>
          </a:p>
        </p:txBody>
      </p:sp>
      <p:sp>
        <p:nvSpPr>
          <p:cNvPr id="4" name="Footer Placeholder 3">
            <a:extLst>
              <a:ext uri="{FF2B5EF4-FFF2-40B4-BE49-F238E27FC236}">
                <a16:creationId xmlns:a16="http://schemas.microsoft.com/office/drawing/2014/main" id="{2642C912-966A-8BFD-6AB6-537CA5FECEE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0F71272-2FFE-F62E-0BA6-1D00B571C657}"/>
              </a:ext>
            </a:extLst>
          </p:cNvPr>
          <p:cNvSpPr>
            <a:spLocks noGrp="1"/>
          </p:cNvSpPr>
          <p:nvPr>
            <p:ph type="sldNum" sz="quarter" idx="12"/>
          </p:nvPr>
        </p:nvSpPr>
        <p:spPr/>
        <p:txBody>
          <a:bodyPr/>
          <a:lstStyle/>
          <a:p>
            <a:fld id="{315BFC04-2D9A-4F49-8BA1-6A92D38D9141}" type="slidenum">
              <a:rPr lang="en-IN" smtClean="0"/>
              <a:t>‹#›</a:t>
            </a:fld>
            <a:endParaRPr lang="en-IN"/>
          </a:p>
        </p:txBody>
      </p:sp>
    </p:spTree>
    <p:extLst>
      <p:ext uri="{BB962C8B-B14F-4D97-AF65-F5344CB8AC3E}">
        <p14:creationId xmlns:p14="http://schemas.microsoft.com/office/powerpoint/2010/main" val="1067233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5FDD47-5AF2-7339-BC01-7808975C0FD3}"/>
              </a:ext>
            </a:extLst>
          </p:cNvPr>
          <p:cNvSpPr>
            <a:spLocks noGrp="1"/>
          </p:cNvSpPr>
          <p:nvPr>
            <p:ph type="dt" sz="half" idx="10"/>
          </p:nvPr>
        </p:nvSpPr>
        <p:spPr/>
        <p:txBody>
          <a:bodyPr/>
          <a:lstStyle/>
          <a:p>
            <a:fld id="{25C9958D-F175-4481-9A28-B0A9C3899798}" type="datetimeFigureOut">
              <a:rPr lang="en-IN" smtClean="0"/>
              <a:t>24-11-2025</a:t>
            </a:fld>
            <a:endParaRPr lang="en-IN"/>
          </a:p>
        </p:txBody>
      </p:sp>
      <p:sp>
        <p:nvSpPr>
          <p:cNvPr id="3" name="Footer Placeholder 2">
            <a:extLst>
              <a:ext uri="{FF2B5EF4-FFF2-40B4-BE49-F238E27FC236}">
                <a16:creationId xmlns:a16="http://schemas.microsoft.com/office/drawing/2014/main" id="{EF189074-48BC-48C3-3599-13A17F84C5F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C707D1B-4AAB-F5AB-5961-21EFFEB1B1AD}"/>
              </a:ext>
            </a:extLst>
          </p:cNvPr>
          <p:cNvSpPr>
            <a:spLocks noGrp="1"/>
          </p:cNvSpPr>
          <p:nvPr>
            <p:ph type="sldNum" sz="quarter" idx="12"/>
          </p:nvPr>
        </p:nvSpPr>
        <p:spPr/>
        <p:txBody>
          <a:bodyPr/>
          <a:lstStyle/>
          <a:p>
            <a:fld id="{315BFC04-2D9A-4F49-8BA1-6A92D38D9141}" type="slidenum">
              <a:rPr lang="en-IN" smtClean="0"/>
              <a:t>‹#›</a:t>
            </a:fld>
            <a:endParaRPr lang="en-IN"/>
          </a:p>
        </p:txBody>
      </p:sp>
    </p:spTree>
    <p:extLst>
      <p:ext uri="{BB962C8B-B14F-4D97-AF65-F5344CB8AC3E}">
        <p14:creationId xmlns:p14="http://schemas.microsoft.com/office/powerpoint/2010/main" val="2369378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57FBB-B163-B231-046A-B6D0A86C3D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7A032DA-884B-5DB6-3A13-DAB8576978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F424CDF-2F15-103D-2B12-72D0E5F358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DD4339-9F0C-E78B-4410-95F7F06BBBAC}"/>
              </a:ext>
            </a:extLst>
          </p:cNvPr>
          <p:cNvSpPr>
            <a:spLocks noGrp="1"/>
          </p:cNvSpPr>
          <p:nvPr>
            <p:ph type="dt" sz="half" idx="10"/>
          </p:nvPr>
        </p:nvSpPr>
        <p:spPr/>
        <p:txBody>
          <a:bodyPr/>
          <a:lstStyle/>
          <a:p>
            <a:fld id="{25C9958D-F175-4481-9A28-B0A9C3899798}" type="datetimeFigureOut">
              <a:rPr lang="en-IN" smtClean="0"/>
              <a:t>24-11-2025</a:t>
            </a:fld>
            <a:endParaRPr lang="en-IN"/>
          </a:p>
        </p:txBody>
      </p:sp>
      <p:sp>
        <p:nvSpPr>
          <p:cNvPr id="6" name="Footer Placeholder 5">
            <a:extLst>
              <a:ext uri="{FF2B5EF4-FFF2-40B4-BE49-F238E27FC236}">
                <a16:creationId xmlns:a16="http://schemas.microsoft.com/office/drawing/2014/main" id="{0881B27B-F483-A5AF-9567-68A5DD7B6E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3E7384E-333C-9DC9-D3A7-97FEADE8662B}"/>
              </a:ext>
            </a:extLst>
          </p:cNvPr>
          <p:cNvSpPr>
            <a:spLocks noGrp="1"/>
          </p:cNvSpPr>
          <p:nvPr>
            <p:ph type="sldNum" sz="quarter" idx="12"/>
          </p:nvPr>
        </p:nvSpPr>
        <p:spPr/>
        <p:txBody>
          <a:bodyPr/>
          <a:lstStyle/>
          <a:p>
            <a:fld id="{315BFC04-2D9A-4F49-8BA1-6A92D38D9141}" type="slidenum">
              <a:rPr lang="en-IN" smtClean="0"/>
              <a:t>‹#›</a:t>
            </a:fld>
            <a:endParaRPr lang="en-IN"/>
          </a:p>
        </p:txBody>
      </p:sp>
    </p:spTree>
    <p:extLst>
      <p:ext uri="{BB962C8B-B14F-4D97-AF65-F5344CB8AC3E}">
        <p14:creationId xmlns:p14="http://schemas.microsoft.com/office/powerpoint/2010/main" val="9125301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78247-4BA5-C45A-113C-43D4768F81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23F970A-2A1E-9BB2-B271-93D469C62E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5DA31AF-243A-F72E-D482-6152303591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1C878B-D5B0-A951-5869-25A9F6EDCE83}"/>
              </a:ext>
            </a:extLst>
          </p:cNvPr>
          <p:cNvSpPr>
            <a:spLocks noGrp="1"/>
          </p:cNvSpPr>
          <p:nvPr>
            <p:ph type="dt" sz="half" idx="10"/>
          </p:nvPr>
        </p:nvSpPr>
        <p:spPr/>
        <p:txBody>
          <a:bodyPr/>
          <a:lstStyle/>
          <a:p>
            <a:fld id="{25C9958D-F175-4481-9A28-B0A9C3899798}" type="datetimeFigureOut">
              <a:rPr lang="en-IN" smtClean="0"/>
              <a:t>24-11-2025</a:t>
            </a:fld>
            <a:endParaRPr lang="en-IN"/>
          </a:p>
        </p:txBody>
      </p:sp>
      <p:sp>
        <p:nvSpPr>
          <p:cNvPr id="6" name="Footer Placeholder 5">
            <a:extLst>
              <a:ext uri="{FF2B5EF4-FFF2-40B4-BE49-F238E27FC236}">
                <a16:creationId xmlns:a16="http://schemas.microsoft.com/office/drawing/2014/main" id="{C7B0EBD9-3CBE-637C-BF3D-EDD398FB315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612AF81-6DF8-4838-0927-C41B52E281BA}"/>
              </a:ext>
            </a:extLst>
          </p:cNvPr>
          <p:cNvSpPr>
            <a:spLocks noGrp="1"/>
          </p:cNvSpPr>
          <p:nvPr>
            <p:ph type="sldNum" sz="quarter" idx="12"/>
          </p:nvPr>
        </p:nvSpPr>
        <p:spPr/>
        <p:txBody>
          <a:bodyPr/>
          <a:lstStyle/>
          <a:p>
            <a:fld id="{315BFC04-2D9A-4F49-8BA1-6A92D38D9141}" type="slidenum">
              <a:rPr lang="en-IN" smtClean="0"/>
              <a:t>‹#›</a:t>
            </a:fld>
            <a:endParaRPr lang="en-IN"/>
          </a:p>
        </p:txBody>
      </p:sp>
    </p:spTree>
    <p:extLst>
      <p:ext uri="{BB962C8B-B14F-4D97-AF65-F5344CB8AC3E}">
        <p14:creationId xmlns:p14="http://schemas.microsoft.com/office/powerpoint/2010/main" val="1767615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C0C8F-6059-92C3-74B2-A22F2615DAF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EF69B56-F6CD-E170-B833-005E00C652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99BA3D-4969-6403-B4DE-02FA7A8BD394}"/>
              </a:ext>
            </a:extLst>
          </p:cNvPr>
          <p:cNvSpPr>
            <a:spLocks noGrp="1"/>
          </p:cNvSpPr>
          <p:nvPr>
            <p:ph type="dt" sz="half" idx="10"/>
          </p:nvPr>
        </p:nvSpPr>
        <p:spPr/>
        <p:txBody>
          <a:bodyPr/>
          <a:lstStyle/>
          <a:p>
            <a:fld id="{25C9958D-F175-4481-9A28-B0A9C3899798}" type="datetimeFigureOut">
              <a:rPr lang="en-IN" smtClean="0"/>
              <a:t>24-11-2025</a:t>
            </a:fld>
            <a:endParaRPr lang="en-IN"/>
          </a:p>
        </p:txBody>
      </p:sp>
      <p:sp>
        <p:nvSpPr>
          <p:cNvPr id="5" name="Footer Placeholder 4">
            <a:extLst>
              <a:ext uri="{FF2B5EF4-FFF2-40B4-BE49-F238E27FC236}">
                <a16:creationId xmlns:a16="http://schemas.microsoft.com/office/drawing/2014/main" id="{5F77D48B-017C-06FB-3A67-44CE13C51A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BB62C1-2AF0-F41C-F2BA-7F1B6572E7A7}"/>
              </a:ext>
            </a:extLst>
          </p:cNvPr>
          <p:cNvSpPr>
            <a:spLocks noGrp="1"/>
          </p:cNvSpPr>
          <p:nvPr>
            <p:ph type="sldNum" sz="quarter" idx="12"/>
          </p:nvPr>
        </p:nvSpPr>
        <p:spPr/>
        <p:txBody>
          <a:bodyPr/>
          <a:lstStyle/>
          <a:p>
            <a:fld id="{315BFC04-2D9A-4F49-8BA1-6A92D38D9141}" type="slidenum">
              <a:rPr lang="en-IN" smtClean="0"/>
              <a:t>‹#›</a:t>
            </a:fld>
            <a:endParaRPr lang="en-IN"/>
          </a:p>
        </p:txBody>
      </p:sp>
    </p:spTree>
    <p:extLst>
      <p:ext uri="{BB962C8B-B14F-4D97-AF65-F5344CB8AC3E}">
        <p14:creationId xmlns:p14="http://schemas.microsoft.com/office/powerpoint/2010/main" val="3324622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CF8B34-43F8-498A-3846-F27C2EEFC50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0B9D504-D766-BFEB-DFEA-38AE2A1598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0273B8-1D6A-B0B7-A2D4-B3E9133F5B58}"/>
              </a:ext>
            </a:extLst>
          </p:cNvPr>
          <p:cNvSpPr>
            <a:spLocks noGrp="1"/>
          </p:cNvSpPr>
          <p:nvPr>
            <p:ph type="dt" sz="half" idx="10"/>
          </p:nvPr>
        </p:nvSpPr>
        <p:spPr/>
        <p:txBody>
          <a:bodyPr/>
          <a:lstStyle/>
          <a:p>
            <a:fld id="{25C9958D-F175-4481-9A28-B0A9C3899798}" type="datetimeFigureOut">
              <a:rPr lang="en-IN" smtClean="0"/>
              <a:t>24-11-2025</a:t>
            </a:fld>
            <a:endParaRPr lang="en-IN"/>
          </a:p>
        </p:txBody>
      </p:sp>
      <p:sp>
        <p:nvSpPr>
          <p:cNvPr id="5" name="Footer Placeholder 4">
            <a:extLst>
              <a:ext uri="{FF2B5EF4-FFF2-40B4-BE49-F238E27FC236}">
                <a16:creationId xmlns:a16="http://schemas.microsoft.com/office/drawing/2014/main" id="{D7D463FA-2C8E-5DC6-67B1-75CF72D2B7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6B305D-23C8-8945-A8B3-940670FA7149}"/>
              </a:ext>
            </a:extLst>
          </p:cNvPr>
          <p:cNvSpPr>
            <a:spLocks noGrp="1"/>
          </p:cNvSpPr>
          <p:nvPr>
            <p:ph type="sldNum" sz="quarter" idx="12"/>
          </p:nvPr>
        </p:nvSpPr>
        <p:spPr/>
        <p:txBody>
          <a:bodyPr/>
          <a:lstStyle/>
          <a:p>
            <a:fld id="{315BFC04-2D9A-4F49-8BA1-6A92D38D9141}" type="slidenum">
              <a:rPr lang="en-IN" smtClean="0"/>
              <a:t>‹#›</a:t>
            </a:fld>
            <a:endParaRPr lang="en-IN"/>
          </a:p>
        </p:txBody>
      </p:sp>
    </p:spTree>
    <p:extLst>
      <p:ext uri="{BB962C8B-B14F-4D97-AF65-F5344CB8AC3E}">
        <p14:creationId xmlns:p14="http://schemas.microsoft.com/office/powerpoint/2010/main" val="2738279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566209-6804-BE27-F5B4-CBE412F974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E8C80AC-B6FC-C136-67C8-98056EA480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47FCAE-9F3C-3D2B-BFDE-DFE7BA9D48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5C9958D-F175-4481-9A28-B0A9C3899798}" type="datetimeFigureOut">
              <a:rPr lang="en-IN" smtClean="0"/>
              <a:t>24-11-2025</a:t>
            </a:fld>
            <a:endParaRPr lang="en-IN"/>
          </a:p>
        </p:txBody>
      </p:sp>
      <p:sp>
        <p:nvSpPr>
          <p:cNvPr id="5" name="Footer Placeholder 4">
            <a:extLst>
              <a:ext uri="{FF2B5EF4-FFF2-40B4-BE49-F238E27FC236}">
                <a16:creationId xmlns:a16="http://schemas.microsoft.com/office/drawing/2014/main" id="{7FD9B1F4-AFE1-6FDE-13F5-F1DCE55E2B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E4D08FE-147A-E092-B3AC-A0DCCA325A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15BFC04-2D9A-4F49-8BA1-6A92D38D9141}" type="slidenum">
              <a:rPr lang="en-IN" smtClean="0"/>
              <a:t>‹#›</a:t>
            </a:fld>
            <a:endParaRPr lang="en-IN"/>
          </a:p>
        </p:txBody>
      </p:sp>
      <p:sp>
        <p:nvSpPr>
          <p:cNvPr id="8" name="TextBox 7">
            <a:extLst>
              <a:ext uri="{FF2B5EF4-FFF2-40B4-BE49-F238E27FC236}">
                <a16:creationId xmlns:a16="http://schemas.microsoft.com/office/drawing/2014/main" id="{B424D959-65EC-E534-9790-3BAB241E1FC0}"/>
              </a:ext>
            </a:extLst>
          </p:cNvPr>
          <p:cNvSpPr txBox="1"/>
          <p:nvPr userDrawn="1">
            <p:extLst>
              <p:ext uri="{1162E1C5-73C7-4A58-AE30-91384D911F3F}">
                <p184:classification xmlns:p184="http://schemas.microsoft.com/office/powerpoint/2018/4/main" val="ftr"/>
              </p:ext>
            </p:extLst>
          </p:nvPr>
        </p:nvSpPr>
        <p:spPr>
          <a:xfrm>
            <a:off x="11315700" y="6672580"/>
            <a:ext cx="833438" cy="121920"/>
          </a:xfrm>
          <a:prstGeom prst="rect">
            <a:avLst/>
          </a:prstGeom>
        </p:spPr>
        <p:txBody>
          <a:bodyPr horzOverflow="overflow" lIns="0" tIns="0" rIns="0" bIns="0">
            <a:spAutoFit/>
          </a:bodyPr>
          <a:lstStyle/>
          <a:p>
            <a:pPr algn="l"/>
            <a:r>
              <a:rPr lang="en-IN" sz="800">
                <a:solidFill>
                  <a:srgbClr val="000000">
                    <a:alpha val="50000"/>
                  </a:srgbClr>
                </a:solidFill>
                <a:latin typeface="Aptos" panose="020B0004020202020204" pitchFamily="34" charset="0"/>
              </a:rPr>
              <a:t>Cisco Confidential</a:t>
            </a:r>
          </a:p>
        </p:txBody>
      </p:sp>
    </p:spTree>
    <p:extLst>
      <p:ext uri="{BB962C8B-B14F-4D97-AF65-F5344CB8AC3E}">
        <p14:creationId xmlns:p14="http://schemas.microsoft.com/office/powerpoint/2010/main" val="39225228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5A546-C76F-FC80-2516-28148F09D535}"/>
              </a:ext>
            </a:extLst>
          </p:cNvPr>
          <p:cNvSpPr>
            <a:spLocks noGrp="1"/>
          </p:cNvSpPr>
          <p:nvPr>
            <p:ph type="ctrTitle"/>
          </p:nvPr>
        </p:nvSpPr>
        <p:spPr>
          <a:xfrm>
            <a:off x="839449" y="1122363"/>
            <a:ext cx="10747948" cy="2387600"/>
          </a:xfrm>
        </p:spPr>
        <p:txBody>
          <a:bodyPr>
            <a:normAutofit fontScale="90000"/>
          </a:bodyPr>
          <a:lstStyle/>
          <a:p>
            <a:r>
              <a:rPr lang="en-US" dirty="0"/>
              <a:t>Breakthroughs In LLMS : Multimodal Capabilities And Cross Domain Learning</a:t>
            </a:r>
            <a:endParaRPr lang="en-IN" dirty="0"/>
          </a:p>
        </p:txBody>
      </p:sp>
      <p:sp>
        <p:nvSpPr>
          <p:cNvPr id="3" name="Subtitle 2">
            <a:extLst>
              <a:ext uri="{FF2B5EF4-FFF2-40B4-BE49-F238E27FC236}">
                <a16:creationId xmlns:a16="http://schemas.microsoft.com/office/drawing/2014/main" id="{B6F0F887-3BED-9739-32D5-D9B95F2E28C8}"/>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39528417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F26B0-4169-3CC7-7491-E2168DE012DD}"/>
              </a:ext>
            </a:extLst>
          </p:cNvPr>
          <p:cNvSpPr>
            <a:spLocks noGrp="1"/>
          </p:cNvSpPr>
          <p:nvPr>
            <p:ph type="title"/>
          </p:nvPr>
        </p:nvSpPr>
        <p:spPr/>
        <p:txBody>
          <a:bodyPr/>
          <a:lstStyle/>
          <a:p>
            <a:r>
              <a:rPr lang="en-US" dirty="0"/>
              <a:t>Time line</a:t>
            </a:r>
            <a:endParaRPr lang="en-IN" dirty="0"/>
          </a:p>
        </p:txBody>
      </p:sp>
      <p:pic>
        <p:nvPicPr>
          <p:cNvPr id="5" name="Content Placeholder 4">
            <a:extLst>
              <a:ext uri="{FF2B5EF4-FFF2-40B4-BE49-F238E27FC236}">
                <a16:creationId xmlns:a16="http://schemas.microsoft.com/office/drawing/2014/main" id="{33FAF82B-72E9-F0CE-B949-DC02B83390A9}"/>
              </a:ext>
            </a:extLst>
          </p:cNvPr>
          <p:cNvPicPr>
            <a:picLocks noGrp="1" noChangeAspect="1"/>
          </p:cNvPicPr>
          <p:nvPr>
            <p:ph idx="1"/>
          </p:nvPr>
        </p:nvPicPr>
        <p:blipFill>
          <a:blip r:embed="rId2"/>
          <a:stretch>
            <a:fillRect/>
          </a:stretch>
        </p:blipFill>
        <p:spPr>
          <a:xfrm>
            <a:off x="759596" y="2003844"/>
            <a:ext cx="10594204" cy="4172104"/>
          </a:xfrm>
          <a:prstGeom prst="rect">
            <a:avLst/>
          </a:prstGeom>
        </p:spPr>
      </p:pic>
    </p:spTree>
    <p:extLst>
      <p:ext uri="{BB962C8B-B14F-4D97-AF65-F5344CB8AC3E}">
        <p14:creationId xmlns:p14="http://schemas.microsoft.com/office/powerpoint/2010/main" val="187795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8BC46-68B7-70CF-F31E-492088886FC0}"/>
              </a:ext>
            </a:extLst>
          </p:cNvPr>
          <p:cNvSpPr>
            <a:spLocks noGrp="1"/>
          </p:cNvSpPr>
          <p:nvPr>
            <p:ph type="title"/>
          </p:nvPr>
        </p:nvSpPr>
        <p:spPr>
          <a:xfrm>
            <a:off x="268573" y="211237"/>
            <a:ext cx="10479375" cy="757121"/>
          </a:xfrm>
        </p:spPr>
        <p:txBody>
          <a:bodyPr/>
          <a:lstStyle/>
          <a:p>
            <a:r>
              <a:rPr lang="en-US" dirty="0"/>
              <a:t>LLM</a:t>
            </a:r>
            <a:endParaRPr lang="en-IN" dirty="0"/>
          </a:p>
        </p:txBody>
      </p:sp>
      <p:sp>
        <p:nvSpPr>
          <p:cNvPr id="4" name="Rectangle 1">
            <a:extLst>
              <a:ext uri="{FF2B5EF4-FFF2-40B4-BE49-F238E27FC236}">
                <a16:creationId xmlns:a16="http://schemas.microsoft.com/office/drawing/2014/main" id="{8A909BE7-A50E-EA68-61AC-2EEF7A46605A}"/>
              </a:ext>
            </a:extLst>
          </p:cNvPr>
          <p:cNvSpPr>
            <a:spLocks noGrp="1" noChangeArrowheads="1"/>
          </p:cNvSpPr>
          <p:nvPr>
            <p:ph idx="1"/>
          </p:nvPr>
        </p:nvSpPr>
        <p:spPr bwMode="auto">
          <a:xfrm>
            <a:off x="104845" y="1271487"/>
            <a:ext cx="10938507" cy="4315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indent="0" eaLnBrk="0" fontAlgn="base" hangingPunct="0">
              <a:lnSpc>
                <a:spcPct val="200000"/>
              </a:lnSpc>
              <a:spcBef>
                <a:spcPct val="0"/>
              </a:spcBef>
              <a:spcAft>
                <a:spcPct val="0"/>
              </a:spcAft>
              <a:buNone/>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Recent years have seen major progress in large language models (LLMs).</a:t>
            </a:r>
          </a:p>
          <a:p>
            <a:pPr marL="0" indent="0" eaLnBrk="0" fontAlgn="base" hangingPunct="0">
              <a:lnSpc>
                <a:spcPct val="200000"/>
              </a:lnSpc>
              <a:spcBef>
                <a:spcPct val="0"/>
              </a:spcBef>
              <a:spcAft>
                <a:spcPct val="0"/>
              </a:spcAft>
              <a:buNone/>
            </a:pP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indent="0" eaLnBrk="0" fontAlgn="base" hangingPunct="0">
              <a:lnSpc>
                <a:spcPct val="200000"/>
              </a:lnSpc>
              <a:spcBef>
                <a:spcPct val="0"/>
              </a:spcBef>
              <a:spcAft>
                <a:spcPct val="0"/>
              </a:spcAft>
              <a:buNone/>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Scaling model size and data leads to emergent abilities such as:</a:t>
            </a:r>
            <a:b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in-context learning (ICL)</a:t>
            </a:r>
            <a:b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chain-of-thought (</a:t>
            </a:r>
            <a:r>
              <a:rPr kumimoji="0" lang="en-US" altLang="en-US" sz="20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CoT</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reasoning</a:t>
            </a:r>
          </a:p>
          <a:p>
            <a:pPr marL="0" indent="0" eaLnBrk="0" fontAlgn="base" hangingPunct="0">
              <a:lnSpc>
                <a:spcPct val="200000"/>
              </a:lnSpc>
              <a:spcBef>
                <a:spcPct val="0"/>
              </a:spcBef>
              <a:spcAft>
                <a:spcPct val="0"/>
              </a:spcAft>
              <a:buNone/>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LLMs show strong zero-shot and few-shot reasoning across many NLP tasks and real-world applications.</a:t>
            </a:r>
          </a:p>
          <a:p>
            <a:pPr marL="0" indent="0" eaLnBrk="0" fontAlgn="base" hangingPunct="0">
              <a:lnSpc>
                <a:spcPct val="200000"/>
              </a:lnSpc>
              <a:spcBef>
                <a:spcPct val="0"/>
              </a:spcBef>
              <a:spcAft>
                <a:spcPct val="0"/>
              </a:spcAft>
              <a:buNone/>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However, LLMs are “blind” because they process only text and cannot understand visual information.</a:t>
            </a:r>
          </a:p>
        </p:txBody>
      </p:sp>
    </p:spTree>
    <p:extLst>
      <p:ext uri="{BB962C8B-B14F-4D97-AF65-F5344CB8AC3E}">
        <p14:creationId xmlns:p14="http://schemas.microsoft.com/office/powerpoint/2010/main" val="3521590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ECDB1-E02A-0DB9-E951-5E9B72E0D0CA}"/>
              </a:ext>
            </a:extLst>
          </p:cNvPr>
          <p:cNvSpPr>
            <a:spLocks noGrp="1"/>
          </p:cNvSpPr>
          <p:nvPr>
            <p:ph type="title"/>
          </p:nvPr>
        </p:nvSpPr>
        <p:spPr>
          <a:xfrm>
            <a:off x="148651" y="365125"/>
            <a:ext cx="11768527" cy="894049"/>
          </a:xfrm>
        </p:spPr>
        <p:txBody>
          <a:bodyPr>
            <a:noAutofit/>
          </a:bodyPr>
          <a:lstStyle/>
          <a:p>
            <a:r>
              <a:rPr lang="en-US" dirty="0"/>
              <a:t>Timeline of pretrained and fine-tuned LLM releases</a:t>
            </a:r>
            <a:endParaRPr lang="en-IN" dirty="0"/>
          </a:p>
        </p:txBody>
      </p:sp>
      <p:pic>
        <p:nvPicPr>
          <p:cNvPr id="5" name="Content Placeholder 4">
            <a:extLst>
              <a:ext uri="{FF2B5EF4-FFF2-40B4-BE49-F238E27FC236}">
                <a16:creationId xmlns:a16="http://schemas.microsoft.com/office/drawing/2014/main" id="{47FD7963-5FC3-9D45-7655-ABB9A776AA41}"/>
              </a:ext>
            </a:extLst>
          </p:cNvPr>
          <p:cNvPicPr>
            <a:picLocks noGrp="1" noChangeAspect="1"/>
          </p:cNvPicPr>
          <p:nvPr>
            <p:ph idx="1"/>
          </p:nvPr>
        </p:nvPicPr>
        <p:blipFill>
          <a:blip r:embed="rId2"/>
          <a:stretch>
            <a:fillRect/>
          </a:stretch>
        </p:blipFill>
        <p:spPr>
          <a:xfrm>
            <a:off x="643390" y="1603948"/>
            <a:ext cx="11273789" cy="4888927"/>
          </a:xfrm>
          <a:prstGeom prst="rect">
            <a:avLst/>
          </a:prstGeom>
        </p:spPr>
      </p:pic>
    </p:spTree>
    <p:extLst>
      <p:ext uri="{BB962C8B-B14F-4D97-AF65-F5344CB8AC3E}">
        <p14:creationId xmlns:p14="http://schemas.microsoft.com/office/powerpoint/2010/main" val="41869270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F1A2B-0FC7-E4C3-17FA-750FA37691CF}"/>
              </a:ext>
            </a:extLst>
          </p:cNvPr>
          <p:cNvSpPr>
            <a:spLocks noGrp="1"/>
          </p:cNvSpPr>
          <p:nvPr>
            <p:ph type="title"/>
          </p:nvPr>
        </p:nvSpPr>
        <p:spPr/>
        <p:txBody>
          <a:bodyPr/>
          <a:lstStyle/>
          <a:p>
            <a:r>
              <a:rPr lang="en-US" dirty="0"/>
              <a:t>What Are MLLMs?</a:t>
            </a:r>
            <a:br>
              <a:rPr lang="en-US" b="1" dirty="0"/>
            </a:br>
            <a:endParaRPr lang="en-IN" dirty="0"/>
          </a:p>
        </p:txBody>
      </p:sp>
      <p:sp>
        <p:nvSpPr>
          <p:cNvPr id="3" name="Content Placeholder 2">
            <a:extLst>
              <a:ext uri="{FF2B5EF4-FFF2-40B4-BE49-F238E27FC236}">
                <a16:creationId xmlns:a16="http://schemas.microsoft.com/office/drawing/2014/main" id="{67803711-CC6E-A939-4B01-318194ABAF1D}"/>
              </a:ext>
            </a:extLst>
          </p:cNvPr>
          <p:cNvSpPr>
            <a:spLocks noGrp="1"/>
          </p:cNvSpPr>
          <p:nvPr>
            <p:ph idx="1"/>
          </p:nvPr>
        </p:nvSpPr>
        <p:spPr/>
        <p:txBody>
          <a:bodyPr>
            <a:norm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MLLMs are LLM-based models that can receive, interpret, and generate multimodal information such as text + images.</a:t>
            </a:r>
          </a:p>
          <a:p>
            <a:r>
              <a:rPr lang="en-US" sz="2400" dirty="0">
                <a:latin typeface="Calibri" panose="020F0502020204030204" pitchFamily="34" charset="0"/>
                <a:ea typeface="Calibri" panose="020F0502020204030204" pitchFamily="34" charset="0"/>
                <a:cs typeface="Calibri" panose="020F0502020204030204" pitchFamily="34" charset="0"/>
              </a:rPr>
              <a:t>Earlier multimodal work includes:</a:t>
            </a:r>
            <a:br>
              <a:rPr lang="en-US" sz="2400" dirty="0">
                <a:latin typeface="Calibri" panose="020F0502020204030204" pitchFamily="34" charset="0"/>
                <a:ea typeface="Calibri" panose="020F0502020204030204" pitchFamily="34" charset="0"/>
                <a:cs typeface="Calibri" panose="020F0502020204030204" pitchFamily="34" charset="0"/>
              </a:rPr>
            </a:br>
            <a:r>
              <a:rPr lang="en-US" sz="2400" dirty="0">
                <a:latin typeface="Calibri" panose="020F0502020204030204" pitchFamily="34" charset="0"/>
                <a:ea typeface="Calibri" panose="020F0502020204030204" pitchFamily="34" charset="0"/>
                <a:cs typeface="Calibri" panose="020F0502020204030204" pitchFamily="34" charset="0"/>
              </a:rPr>
              <a:t>• Discriminative models (e.g., CLIP) that map images and text to a shared embedding space.</a:t>
            </a:r>
            <a:br>
              <a:rPr lang="en-US" sz="2400" dirty="0">
                <a:latin typeface="Calibri" panose="020F0502020204030204" pitchFamily="34" charset="0"/>
                <a:ea typeface="Calibri" panose="020F0502020204030204" pitchFamily="34" charset="0"/>
                <a:cs typeface="Calibri" panose="020F0502020204030204" pitchFamily="34" charset="0"/>
              </a:rPr>
            </a:br>
            <a:r>
              <a:rPr lang="en-US" sz="2400" dirty="0">
                <a:latin typeface="Calibri" panose="020F0502020204030204" pitchFamily="34" charset="0"/>
                <a:ea typeface="Calibri" panose="020F0502020204030204" pitchFamily="34" charset="0"/>
                <a:cs typeface="Calibri" panose="020F0502020204030204" pitchFamily="34" charset="0"/>
              </a:rPr>
              <a:t>• Generative models (e.g., OFA) that unify multimodal tasks in a sequence-to-sequence format.</a:t>
            </a:r>
          </a:p>
          <a:p>
            <a:endParaRPr lang="en-IN" sz="2400" dirty="0"/>
          </a:p>
        </p:txBody>
      </p:sp>
    </p:spTree>
    <p:extLst>
      <p:ext uri="{BB962C8B-B14F-4D97-AF65-F5344CB8AC3E}">
        <p14:creationId xmlns:p14="http://schemas.microsoft.com/office/powerpoint/2010/main" val="37889922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89EA13D-D166-A01C-8C59-ABE558A5E7BD}"/>
              </a:ext>
            </a:extLst>
          </p:cNvPr>
          <p:cNvPicPr>
            <a:picLocks noGrp="1" noChangeAspect="1"/>
          </p:cNvPicPr>
          <p:nvPr>
            <p:ph idx="1"/>
          </p:nvPr>
        </p:nvPicPr>
        <p:blipFill>
          <a:blip r:embed="rId2"/>
          <a:srcRect t="7411" b="8395"/>
          <a:stretch>
            <a:fillRect/>
          </a:stretch>
        </p:blipFill>
        <p:spPr>
          <a:xfrm>
            <a:off x="534987" y="796638"/>
            <a:ext cx="11122026" cy="5264723"/>
          </a:xfrm>
          <a:prstGeom prst="rect">
            <a:avLst/>
          </a:prstGeom>
        </p:spPr>
      </p:pic>
    </p:spTree>
    <p:extLst>
      <p:ext uri="{BB962C8B-B14F-4D97-AF65-F5344CB8AC3E}">
        <p14:creationId xmlns:p14="http://schemas.microsoft.com/office/powerpoint/2010/main" val="1153744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EBE8342-3330-AF13-88CE-F1F1A6465317}"/>
              </a:ext>
            </a:extLst>
          </p:cNvPr>
          <p:cNvPicPr>
            <a:picLocks noGrp="1" noChangeAspect="1"/>
          </p:cNvPicPr>
          <p:nvPr>
            <p:ph idx="1"/>
          </p:nvPr>
        </p:nvPicPr>
        <p:blipFill>
          <a:blip r:embed="rId2"/>
          <a:srcRect l="841" t="6619" b="5535"/>
          <a:stretch>
            <a:fillRect/>
          </a:stretch>
        </p:blipFill>
        <p:spPr>
          <a:xfrm>
            <a:off x="959370" y="752304"/>
            <a:ext cx="10747948" cy="5353392"/>
          </a:xfrm>
          <a:prstGeom prst="rect">
            <a:avLst/>
          </a:prstGeom>
        </p:spPr>
      </p:pic>
    </p:spTree>
    <p:extLst>
      <p:ext uri="{BB962C8B-B14F-4D97-AF65-F5344CB8AC3E}">
        <p14:creationId xmlns:p14="http://schemas.microsoft.com/office/powerpoint/2010/main" val="6971434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09F21-229B-39DD-1FAE-C11D48707E8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A46ACD6-3349-DDB4-0F4C-961CBEA60ADB}"/>
              </a:ext>
            </a:extLst>
          </p:cNvPr>
          <p:cNvPicPr>
            <a:picLocks noGrp="1" noChangeAspect="1"/>
          </p:cNvPicPr>
          <p:nvPr>
            <p:ph idx="1"/>
          </p:nvPr>
        </p:nvPicPr>
        <p:blipFill>
          <a:blip r:embed="rId2"/>
          <a:srcRect l="2245" t="7308" r="2414" b="5879"/>
          <a:stretch>
            <a:fillRect/>
          </a:stretch>
        </p:blipFill>
        <p:spPr>
          <a:xfrm>
            <a:off x="434715" y="535898"/>
            <a:ext cx="11302583" cy="5786203"/>
          </a:xfrm>
          <a:prstGeom prst="rect">
            <a:avLst/>
          </a:prstGeom>
        </p:spPr>
      </p:pic>
    </p:spTree>
    <p:extLst>
      <p:ext uri="{BB962C8B-B14F-4D97-AF65-F5344CB8AC3E}">
        <p14:creationId xmlns:p14="http://schemas.microsoft.com/office/powerpoint/2010/main" val="3396870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FCA3E80-0B8B-5439-D41D-7560F31125BB}"/>
              </a:ext>
            </a:extLst>
          </p:cNvPr>
          <p:cNvPicPr>
            <a:picLocks noGrp="1" noChangeAspect="1"/>
          </p:cNvPicPr>
          <p:nvPr>
            <p:ph idx="1"/>
          </p:nvPr>
        </p:nvPicPr>
        <p:blipFill>
          <a:blip r:embed="rId2"/>
          <a:stretch>
            <a:fillRect/>
          </a:stretch>
        </p:blipFill>
        <p:spPr>
          <a:xfrm>
            <a:off x="416978" y="365125"/>
            <a:ext cx="11775022" cy="6127750"/>
          </a:xfrm>
          <a:prstGeom prst="rect">
            <a:avLst/>
          </a:prstGeom>
        </p:spPr>
      </p:pic>
    </p:spTree>
    <p:extLst>
      <p:ext uri="{BB962C8B-B14F-4D97-AF65-F5344CB8AC3E}">
        <p14:creationId xmlns:p14="http://schemas.microsoft.com/office/powerpoint/2010/main" val="114378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FB67F-F12E-9B52-2B6A-5EBE85DE7EEE}"/>
              </a:ext>
            </a:extLst>
          </p:cNvPr>
          <p:cNvSpPr>
            <a:spLocks noGrp="1"/>
          </p:cNvSpPr>
          <p:nvPr>
            <p:ph type="title"/>
          </p:nvPr>
        </p:nvSpPr>
        <p:spPr>
          <a:xfrm>
            <a:off x="838200" y="365126"/>
            <a:ext cx="10014679" cy="983990"/>
          </a:xfrm>
        </p:spPr>
        <p:txBody>
          <a:bodyPr>
            <a:normAutofit/>
          </a:bodyPr>
          <a:lstStyle/>
          <a:p>
            <a:r>
              <a:rPr lang="en-US" dirty="0"/>
              <a:t>Multimodal </a:t>
            </a:r>
            <a:endParaRPr lang="en-IN" dirty="0"/>
          </a:p>
        </p:txBody>
      </p:sp>
      <p:pic>
        <p:nvPicPr>
          <p:cNvPr id="5" name="Content Placeholder 4">
            <a:extLst>
              <a:ext uri="{FF2B5EF4-FFF2-40B4-BE49-F238E27FC236}">
                <a16:creationId xmlns:a16="http://schemas.microsoft.com/office/drawing/2014/main" id="{EC34BD50-0EEA-F88D-786B-4CADF16FC839}"/>
              </a:ext>
            </a:extLst>
          </p:cNvPr>
          <p:cNvPicPr>
            <a:picLocks noGrp="1" noChangeAspect="1"/>
          </p:cNvPicPr>
          <p:nvPr>
            <p:ph idx="1"/>
          </p:nvPr>
        </p:nvPicPr>
        <p:blipFill>
          <a:blip r:embed="rId2"/>
          <a:stretch>
            <a:fillRect/>
          </a:stretch>
        </p:blipFill>
        <p:spPr>
          <a:xfrm>
            <a:off x="547458" y="1603949"/>
            <a:ext cx="11519624" cy="5202640"/>
          </a:xfrm>
          <a:prstGeom prst="rect">
            <a:avLst/>
          </a:prstGeom>
        </p:spPr>
      </p:pic>
    </p:spTree>
    <p:extLst>
      <p:ext uri="{BB962C8B-B14F-4D97-AF65-F5344CB8AC3E}">
        <p14:creationId xmlns:p14="http://schemas.microsoft.com/office/powerpoint/2010/main" val="22522948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CB6AC-EAD9-BB96-EFF3-C28D2FF59172}"/>
              </a:ext>
            </a:extLst>
          </p:cNvPr>
          <p:cNvSpPr>
            <a:spLocks noGrp="1"/>
          </p:cNvSpPr>
          <p:nvPr>
            <p:ph type="title"/>
          </p:nvPr>
        </p:nvSpPr>
        <p:spPr>
          <a:xfrm>
            <a:off x="838200" y="365126"/>
            <a:ext cx="10059649" cy="1043332"/>
          </a:xfrm>
        </p:spPr>
        <p:txBody>
          <a:bodyPr/>
          <a:lstStyle/>
          <a:p>
            <a:r>
              <a:rPr lang="en-US" dirty="0"/>
              <a:t>Multimodal</a:t>
            </a:r>
            <a:endParaRPr lang="en-IN" dirty="0"/>
          </a:p>
        </p:txBody>
      </p:sp>
      <p:pic>
        <p:nvPicPr>
          <p:cNvPr id="5" name="Content Placeholder 4">
            <a:extLst>
              <a:ext uri="{FF2B5EF4-FFF2-40B4-BE49-F238E27FC236}">
                <a16:creationId xmlns:a16="http://schemas.microsoft.com/office/drawing/2014/main" id="{6F5F3778-BDF8-EC96-2A2A-4177A7033239}"/>
              </a:ext>
            </a:extLst>
          </p:cNvPr>
          <p:cNvPicPr>
            <a:picLocks noGrp="1" noChangeAspect="1"/>
          </p:cNvPicPr>
          <p:nvPr>
            <p:ph idx="1"/>
          </p:nvPr>
        </p:nvPicPr>
        <p:blipFill>
          <a:blip r:embed="rId2"/>
          <a:stretch>
            <a:fillRect/>
          </a:stretch>
        </p:blipFill>
        <p:spPr>
          <a:xfrm>
            <a:off x="313211" y="1408457"/>
            <a:ext cx="11565578" cy="5449543"/>
          </a:xfrm>
          <a:prstGeom prst="rect">
            <a:avLst/>
          </a:prstGeom>
        </p:spPr>
      </p:pic>
    </p:spTree>
    <p:extLst>
      <p:ext uri="{BB962C8B-B14F-4D97-AF65-F5344CB8AC3E}">
        <p14:creationId xmlns:p14="http://schemas.microsoft.com/office/powerpoint/2010/main" val="1563400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2476A-D508-3132-8880-4E0A13FF75D8}"/>
              </a:ext>
            </a:extLst>
          </p:cNvPr>
          <p:cNvSpPr>
            <a:spLocks noGrp="1"/>
          </p:cNvSpPr>
          <p:nvPr>
            <p:ph type="title"/>
          </p:nvPr>
        </p:nvSpPr>
        <p:spPr/>
        <p:txBody>
          <a:bodyPr/>
          <a:lstStyle/>
          <a:p>
            <a:r>
              <a:rPr lang="en-US" dirty="0"/>
              <a:t>Multimodal Embedding</a:t>
            </a:r>
            <a:endParaRPr lang="en-IN" dirty="0"/>
          </a:p>
        </p:txBody>
      </p:sp>
      <p:sp>
        <p:nvSpPr>
          <p:cNvPr id="3" name="Content Placeholder 2">
            <a:extLst>
              <a:ext uri="{FF2B5EF4-FFF2-40B4-BE49-F238E27FC236}">
                <a16:creationId xmlns:a16="http://schemas.microsoft.com/office/drawing/2014/main" id="{E2368893-3B04-66F6-E539-6DAEA8B103F4}"/>
              </a:ext>
            </a:extLst>
          </p:cNvPr>
          <p:cNvSpPr>
            <a:spLocks noGrp="1"/>
          </p:cNvSpPr>
          <p:nvPr>
            <p:ph idx="1"/>
          </p:nvPr>
        </p:nvSpPr>
        <p:spPr>
          <a:xfrm>
            <a:off x="838200" y="1825625"/>
            <a:ext cx="10854128" cy="4351338"/>
          </a:xfrm>
        </p:spPr>
        <p:txBody>
          <a:bodyPr/>
          <a:lstStyle/>
          <a:p>
            <a:pPr algn="just"/>
            <a:r>
              <a:rPr lang="en-US" sz="2400" dirty="0">
                <a:latin typeface="Calibri" panose="020F0502020204030204" pitchFamily="34" charset="0"/>
                <a:ea typeface="Calibri" panose="020F0502020204030204" pitchFamily="34" charset="0"/>
                <a:cs typeface="Calibri" panose="020F0502020204030204" pitchFamily="34" charset="0"/>
              </a:rPr>
              <a:t>One of the key features of MLLMs is their ability to embed both text and visual information into a unified space. This allows the model to reason about both modalities in a consistent manner, ensuring that relationships between visual and textual data can be leveraged effectively.</a:t>
            </a:r>
          </a:p>
          <a:p>
            <a:pPr algn="just"/>
            <a:r>
              <a:rPr lang="en-US" sz="2400" dirty="0">
                <a:latin typeface="Calibri" panose="020F0502020204030204" pitchFamily="34" charset="0"/>
                <a:ea typeface="Calibri" panose="020F0502020204030204" pitchFamily="34" charset="0"/>
                <a:cs typeface="Calibri" panose="020F0502020204030204" pitchFamily="34" charset="0"/>
              </a:rPr>
              <a:t>Modality-Specific Encoding: Initially, each input modality is processed through specialized encoders. For textual data, this often involves tokenization followed by embedding through techniques like word2vec or more advanced contextual embedding methods. Visual data is typically encoded using convolutional neural networks (CNNs) or Vision Transformers (</a:t>
            </a:r>
            <a:r>
              <a:rPr lang="en-US" sz="2400" dirty="0" err="1">
                <a:latin typeface="Calibri" panose="020F0502020204030204" pitchFamily="34" charset="0"/>
                <a:ea typeface="Calibri" panose="020F0502020204030204" pitchFamily="34" charset="0"/>
                <a:cs typeface="Calibri" panose="020F0502020204030204" pitchFamily="34" charset="0"/>
              </a:rPr>
              <a:t>ViT</a:t>
            </a:r>
            <a:r>
              <a:rPr lang="en-US" sz="2400" dirty="0">
                <a:latin typeface="Calibri" panose="020F0502020204030204" pitchFamily="34" charset="0"/>
                <a:ea typeface="Calibri" panose="020F0502020204030204" pitchFamily="34" charset="0"/>
                <a:cs typeface="Calibri" panose="020F0502020204030204" pitchFamily="34" charset="0"/>
              </a:rPr>
              <a:t>) to extract salient features.</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366559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4895B-4300-0CBC-8CF8-8AC848EAC384}"/>
              </a:ext>
            </a:extLst>
          </p:cNvPr>
          <p:cNvSpPr>
            <a:spLocks noGrp="1"/>
          </p:cNvSpPr>
          <p:nvPr>
            <p:ph type="title"/>
          </p:nvPr>
        </p:nvSpPr>
        <p:spPr/>
        <p:txBody>
          <a:bodyPr/>
          <a:lstStyle/>
          <a:p>
            <a:r>
              <a:rPr lang="en-IN" dirty="0"/>
              <a:t>Multimodal Embeddings</a:t>
            </a:r>
          </a:p>
        </p:txBody>
      </p:sp>
      <p:pic>
        <p:nvPicPr>
          <p:cNvPr id="5" name="Content Placeholder 4">
            <a:extLst>
              <a:ext uri="{FF2B5EF4-FFF2-40B4-BE49-F238E27FC236}">
                <a16:creationId xmlns:a16="http://schemas.microsoft.com/office/drawing/2014/main" id="{9C0CC929-A551-35E4-2C67-5238C0617D60}"/>
              </a:ext>
            </a:extLst>
          </p:cNvPr>
          <p:cNvPicPr>
            <a:picLocks noGrp="1" noChangeAspect="1"/>
          </p:cNvPicPr>
          <p:nvPr>
            <p:ph idx="1"/>
          </p:nvPr>
        </p:nvPicPr>
        <p:blipFill>
          <a:blip r:embed="rId2"/>
          <a:stretch>
            <a:fillRect/>
          </a:stretch>
        </p:blipFill>
        <p:spPr>
          <a:xfrm>
            <a:off x="1494076" y="1925113"/>
            <a:ext cx="8154538" cy="3972479"/>
          </a:xfrm>
          <a:prstGeom prst="rect">
            <a:avLst/>
          </a:prstGeom>
        </p:spPr>
      </p:pic>
      <p:sp>
        <p:nvSpPr>
          <p:cNvPr id="7" name="TextBox 6">
            <a:extLst>
              <a:ext uri="{FF2B5EF4-FFF2-40B4-BE49-F238E27FC236}">
                <a16:creationId xmlns:a16="http://schemas.microsoft.com/office/drawing/2014/main" id="{6C47512C-9462-1769-8CAC-31C83940F6AC}"/>
              </a:ext>
            </a:extLst>
          </p:cNvPr>
          <p:cNvSpPr txBox="1"/>
          <p:nvPr/>
        </p:nvSpPr>
        <p:spPr>
          <a:xfrm>
            <a:off x="4961744" y="6308209"/>
            <a:ext cx="6921707" cy="369332"/>
          </a:xfrm>
          <a:prstGeom prst="rect">
            <a:avLst/>
          </a:prstGeom>
          <a:noFill/>
        </p:spPr>
        <p:txBody>
          <a:bodyPr wrap="square">
            <a:spAutoFit/>
          </a:bodyPr>
          <a:lstStyle/>
          <a:p>
            <a:r>
              <a:rPr lang="en-IN" dirty="0"/>
              <a:t>Ref: https://www.twelvelabs.io/blog/multimodal-embeddings</a:t>
            </a:r>
          </a:p>
        </p:txBody>
      </p:sp>
    </p:spTree>
    <p:extLst>
      <p:ext uri="{BB962C8B-B14F-4D97-AF65-F5344CB8AC3E}">
        <p14:creationId xmlns:p14="http://schemas.microsoft.com/office/powerpoint/2010/main" val="9078301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BE9F9-D87F-15CB-20E5-16531843628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BBA4D75-C83C-213E-23D8-5014A730BA28}"/>
              </a:ext>
            </a:extLst>
          </p:cNvPr>
          <p:cNvPicPr>
            <a:picLocks noGrp="1" noChangeAspect="1"/>
          </p:cNvPicPr>
          <p:nvPr>
            <p:ph idx="1"/>
          </p:nvPr>
        </p:nvPicPr>
        <p:blipFill>
          <a:blip r:embed="rId2"/>
          <a:srcRect l="25080" t="4896" r="26306" b="5535"/>
          <a:stretch>
            <a:fillRect/>
          </a:stretch>
        </p:blipFill>
        <p:spPr>
          <a:xfrm>
            <a:off x="2833140" y="479683"/>
            <a:ext cx="5981076" cy="6195536"/>
          </a:xfrm>
          <a:prstGeom prst="rect">
            <a:avLst/>
          </a:prstGeom>
        </p:spPr>
      </p:pic>
    </p:spTree>
    <p:extLst>
      <p:ext uri="{BB962C8B-B14F-4D97-AF65-F5344CB8AC3E}">
        <p14:creationId xmlns:p14="http://schemas.microsoft.com/office/powerpoint/2010/main" val="15043191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9BDA067-70D0-DA20-9654-1998B74E1E1B}"/>
              </a:ext>
            </a:extLst>
          </p:cNvPr>
          <p:cNvPicPr>
            <a:picLocks noGrp="1" noChangeAspect="1"/>
          </p:cNvPicPr>
          <p:nvPr>
            <p:ph idx="1"/>
          </p:nvPr>
        </p:nvPicPr>
        <p:blipFill>
          <a:blip r:embed="rId2"/>
          <a:srcRect l="25273" t="5586" r="25725" b="7601"/>
          <a:stretch>
            <a:fillRect/>
          </a:stretch>
        </p:blipFill>
        <p:spPr>
          <a:xfrm>
            <a:off x="2788170" y="338302"/>
            <a:ext cx="6340840" cy="6181396"/>
          </a:xfrm>
          <a:prstGeom prst="rect">
            <a:avLst/>
          </a:prstGeom>
        </p:spPr>
      </p:pic>
    </p:spTree>
    <p:extLst>
      <p:ext uri="{BB962C8B-B14F-4D97-AF65-F5344CB8AC3E}">
        <p14:creationId xmlns:p14="http://schemas.microsoft.com/office/powerpoint/2010/main" val="13627943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336BF63-2D11-264C-E905-7C521B319593}"/>
              </a:ext>
            </a:extLst>
          </p:cNvPr>
          <p:cNvPicPr>
            <a:picLocks noGrp="1" noChangeAspect="1"/>
          </p:cNvPicPr>
          <p:nvPr>
            <p:ph idx="1"/>
          </p:nvPr>
        </p:nvPicPr>
        <p:blipFill>
          <a:blip r:embed="rId2"/>
          <a:srcRect l="25079" t="6273" r="26112" b="6224"/>
          <a:stretch>
            <a:fillRect/>
          </a:stretch>
        </p:blipFill>
        <p:spPr>
          <a:xfrm>
            <a:off x="2773180" y="210755"/>
            <a:ext cx="6385809" cy="6436489"/>
          </a:xfrm>
          <a:prstGeom prst="rect">
            <a:avLst/>
          </a:prstGeom>
        </p:spPr>
      </p:pic>
    </p:spTree>
    <p:extLst>
      <p:ext uri="{BB962C8B-B14F-4D97-AF65-F5344CB8AC3E}">
        <p14:creationId xmlns:p14="http://schemas.microsoft.com/office/powerpoint/2010/main" val="41560663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17A20-AB88-3D31-AFCF-8DFFE7DC48A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30DE012-F2D4-B6A7-9AE3-8F298473F042}"/>
              </a:ext>
            </a:extLst>
          </p:cNvPr>
          <p:cNvPicPr>
            <a:picLocks noGrp="1" noChangeAspect="1"/>
          </p:cNvPicPr>
          <p:nvPr>
            <p:ph idx="1"/>
          </p:nvPr>
        </p:nvPicPr>
        <p:blipFill>
          <a:blip r:embed="rId2"/>
          <a:srcRect l="25660" t="4207" r="26112" b="10358"/>
          <a:stretch>
            <a:fillRect/>
          </a:stretch>
        </p:blipFill>
        <p:spPr>
          <a:xfrm>
            <a:off x="2663250" y="119524"/>
            <a:ext cx="6645641" cy="6618952"/>
          </a:xfrm>
          <a:prstGeom prst="rect">
            <a:avLst/>
          </a:prstGeom>
        </p:spPr>
      </p:pic>
    </p:spTree>
    <p:extLst>
      <p:ext uri="{BB962C8B-B14F-4D97-AF65-F5344CB8AC3E}">
        <p14:creationId xmlns:p14="http://schemas.microsoft.com/office/powerpoint/2010/main" val="2137127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C2A61-FF91-A30A-3517-6DD199275E5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62B696D-6E15-209A-863D-73E0EB0A97C6}"/>
              </a:ext>
            </a:extLst>
          </p:cNvPr>
          <p:cNvPicPr>
            <a:picLocks noGrp="1" noChangeAspect="1"/>
          </p:cNvPicPr>
          <p:nvPr>
            <p:ph idx="1"/>
          </p:nvPr>
        </p:nvPicPr>
        <p:blipFill>
          <a:blip r:embed="rId2"/>
          <a:srcRect l="25079" t="4551" r="25338" b="6225"/>
          <a:stretch>
            <a:fillRect/>
          </a:stretch>
        </p:blipFill>
        <p:spPr>
          <a:xfrm>
            <a:off x="2773180" y="236591"/>
            <a:ext cx="6310859" cy="6384817"/>
          </a:xfrm>
          <a:prstGeom prst="rect">
            <a:avLst/>
          </a:prstGeom>
        </p:spPr>
      </p:pic>
    </p:spTree>
    <p:extLst>
      <p:ext uri="{BB962C8B-B14F-4D97-AF65-F5344CB8AC3E}">
        <p14:creationId xmlns:p14="http://schemas.microsoft.com/office/powerpoint/2010/main" val="2213540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4769123-AB97-C945-14D3-0648368B7211}"/>
              </a:ext>
            </a:extLst>
          </p:cNvPr>
          <p:cNvPicPr>
            <a:picLocks noGrp="1" noChangeAspect="1"/>
          </p:cNvPicPr>
          <p:nvPr>
            <p:ph idx="1"/>
          </p:nvPr>
        </p:nvPicPr>
        <p:blipFill>
          <a:blip r:embed="rId2"/>
          <a:srcRect l="26048" t="6274" r="25725" b="7602"/>
          <a:stretch>
            <a:fillRect/>
          </a:stretch>
        </p:blipFill>
        <p:spPr>
          <a:xfrm>
            <a:off x="2428406" y="107065"/>
            <a:ext cx="6925456" cy="6355830"/>
          </a:xfrm>
          <a:prstGeom prst="rect">
            <a:avLst/>
          </a:prstGeom>
        </p:spPr>
      </p:pic>
    </p:spTree>
    <p:extLst>
      <p:ext uri="{BB962C8B-B14F-4D97-AF65-F5344CB8AC3E}">
        <p14:creationId xmlns:p14="http://schemas.microsoft.com/office/powerpoint/2010/main" val="31535919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39F0BA0-55FA-B0F6-92B0-98234132E64F}"/>
              </a:ext>
            </a:extLst>
          </p:cNvPr>
          <p:cNvPicPr>
            <a:picLocks noGrp="1" noChangeAspect="1"/>
          </p:cNvPicPr>
          <p:nvPr>
            <p:ph idx="1"/>
          </p:nvPr>
        </p:nvPicPr>
        <p:blipFill>
          <a:blip r:embed="rId2"/>
          <a:srcRect l="25855" t="5240" r="26887" b="6224"/>
          <a:stretch>
            <a:fillRect/>
          </a:stretch>
        </p:blipFill>
        <p:spPr>
          <a:xfrm>
            <a:off x="2713221" y="477331"/>
            <a:ext cx="6665626" cy="6015544"/>
          </a:xfrm>
          <a:prstGeom prst="rect">
            <a:avLst/>
          </a:prstGeom>
        </p:spPr>
      </p:pic>
    </p:spTree>
    <p:extLst>
      <p:ext uri="{BB962C8B-B14F-4D97-AF65-F5344CB8AC3E}">
        <p14:creationId xmlns:p14="http://schemas.microsoft.com/office/powerpoint/2010/main" val="2878894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99C4BEE-E4FC-898D-B06E-EB7DB2AF269A}"/>
              </a:ext>
            </a:extLst>
          </p:cNvPr>
          <p:cNvPicPr>
            <a:picLocks noGrp="1" noChangeAspect="1"/>
          </p:cNvPicPr>
          <p:nvPr>
            <p:ph idx="1"/>
          </p:nvPr>
        </p:nvPicPr>
        <p:blipFill>
          <a:blip r:embed="rId2"/>
          <a:srcRect l="26048" t="4896" r="27081" b="6224"/>
          <a:stretch>
            <a:fillRect/>
          </a:stretch>
        </p:blipFill>
        <p:spPr>
          <a:xfrm>
            <a:off x="2768182" y="222094"/>
            <a:ext cx="6016053" cy="6413811"/>
          </a:xfrm>
          <a:prstGeom prst="rect">
            <a:avLst/>
          </a:prstGeom>
        </p:spPr>
      </p:pic>
    </p:spTree>
    <p:extLst>
      <p:ext uri="{BB962C8B-B14F-4D97-AF65-F5344CB8AC3E}">
        <p14:creationId xmlns:p14="http://schemas.microsoft.com/office/powerpoint/2010/main" val="17286400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61E0114-CAB0-D5E5-90C4-87B9FA382A90}"/>
              </a:ext>
            </a:extLst>
          </p:cNvPr>
          <p:cNvPicPr>
            <a:picLocks noGrp="1" noChangeAspect="1"/>
          </p:cNvPicPr>
          <p:nvPr>
            <p:ph idx="1"/>
          </p:nvPr>
        </p:nvPicPr>
        <p:blipFill>
          <a:blip r:embed="rId2"/>
          <a:srcRect l="26048" t="5241" r="28436" b="5535"/>
          <a:stretch>
            <a:fillRect/>
          </a:stretch>
        </p:blipFill>
        <p:spPr>
          <a:xfrm>
            <a:off x="3102963" y="130291"/>
            <a:ext cx="5986074" cy="6597418"/>
          </a:xfrm>
          <a:prstGeom prst="rect">
            <a:avLst/>
          </a:prstGeom>
        </p:spPr>
      </p:pic>
    </p:spTree>
    <p:extLst>
      <p:ext uri="{BB962C8B-B14F-4D97-AF65-F5344CB8AC3E}">
        <p14:creationId xmlns:p14="http://schemas.microsoft.com/office/powerpoint/2010/main" val="19554358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B19CAA5-E423-5ECF-024D-4AAF27C2300A}"/>
              </a:ext>
            </a:extLst>
          </p:cNvPr>
          <p:cNvPicPr>
            <a:picLocks noGrp="1" noChangeAspect="1"/>
          </p:cNvPicPr>
          <p:nvPr>
            <p:ph idx="1"/>
          </p:nvPr>
        </p:nvPicPr>
        <p:blipFill>
          <a:blip r:embed="rId2"/>
          <a:srcRect l="25661" t="5586" r="25725" b="6224"/>
          <a:stretch>
            <a:fillRect/>
          </a:stretch>
        </p:blipFill>
        <p:spPr>
          <a:xfrm>
            <a:off x="3207893" y="348312"/>
            <a:ext cx="6041037" cy="6161375"/>
          </a:xfrm>
          <a:prstGeom prst="rect">
            <a:avLst/>
          </a:prstGeom>
        </p:spPr>
      </p:pic>
    </p:spTree>
    <p:extLst>
      <p:ext uri="{BB962C8B-B14F-4D97-AF65-F5344CB8AC3E}">
        <p14:creationId xmlns:p14="http://schemas.microsoft.com/office/powerpoint/2010/main" val="29392229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5649996-9A8B-2110-3568-3EA138D5D3EA}"/>
              </a:ext>
            </a:extLst>
          </p:cNvPr>
          <p:cNvPicPr>
            <a:picLocks noGrp="1" noChangeAspect="1"/>
          </p:cNvPicPr>
          <p:nvPr>
            <p:ph idx="1"/>
          </p:nvPr>
        </p:nvPicPr>
        <p:blipFill>
          <a:blip r:embed="rId2"/>
          <a:srcRect l="24498" t="6618" r="25725" b="11736"/>
          <a:stretch>
            <a:fillRect/>
          </a:stretch>
        </p:blipFill>
        <p:spPr>
          <a:xfrm>
            <a:off x="2893099" y="256480"/>
            <a:ext cx="6880487" cy="6345039"/>
          </a:xfrm>
          <a:prstGeom prst="rect">
            <a:avLst/>
          </a:prstGeom>
        </p:spPr>
      </p:pic>
    </p:spTree>
    <p:extLst>
      <p:ext uri="{BB962C8B-B14F-4D97-AF65-F5344CB8AC3E}">
        <p14:creationId xmlns:p14="http://schemas.microsoft.com/office/powerpoint/2010/main" val="22929702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DDCD17E-1D0A-4389-2A05-3012122FDCF9}"/>
              </a:ext>
            </a:extLst>
          </p:cNvPr>
          <p:cNvPicPr>
            <a:picLocks noGrp="1" noChangeAspect="1"/>
          </p:cNvPicPr>
          <p:nvPr>
            <p:ph idx="1"/>
          </p:nvPr>
        </p:nvPicPr>
        <p:blipFill>
          <a:blip r:embed="rId2"/>
          <a:srcRect l="26629" t="4552" r="25337" b="6912"/>
          <a:stretch>
            <a:fillRect/>
          </a:stretch>
        </p:blipFill>
        <p:spPr>
          <a:xfrm>
            <a:off x="2873115" y="178313"/>
            <a:ext cx="6445769" cy="6679687"/>
          </a:xfrm>
          <a:prstGeom prst="rect">
            <a:avLst/>
          </a:prstGeom>
        </p:spPr>
      </p:pic>
    </p:spTree>
    <p:extLst>
      <p:ext uri="{BB962C8B-B14F-4D97-AF65-F5344CB8AC3E}">
        <p14:creationId xmlns:p14="http://schemas.microsoft.com/office/powerpoint/2010/main" val="29109468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BFB0DC8-F766-97B9-80CB-DDCBC6E0A221}"/>
              </a:ext>
            </a:extLst>
          </p:cNvPr>
          <p:cNvPicPr>
            <a:picLocks noGrp="1" noChangeAspect="1"/>
          </p:cNvPicPr>
          <p:nvPr>
            <p:ph idx="1"/>
          </p:nvPr>
        </p:nvPicPr>
        <p:blipFill>
          <a:blip r:embed="rId2"/>
          <a:srcRect l="25274" t="3863" r="26887" b="7602"/>
          <a:stretch>
            <a:fillRect/>
          </a:stretch>
        </p:blipFill>
        <p:spPr>
          <a:xfrm>
            <a:off x="3217889" y="434365"/>
            <a:ext cx="5756222" cy="5989270"/>
          </a:xfrm>
          <a:prstGeom prst="rect">
            <a:avLst/>
          </a:prstGeom>
        </p:spPr>
      </p:pic>
    </p:spTree>
    <p:extLst>
      <p:ext uri="{BB962C8B-B14F-4D97-AF65-F5344CB8AC3E}">
        <p14:creationId xmlns:p14="http://schemas.microsoft.com/office/powerpoint/2010/main" val="37650770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AA796C0-290B-57A4-5370-44F751336586}"/>
              </a:ext>
            </a:extLst>
          </p:cNvPr>
          <p:cNvPicPr>
            <a:picLocks noGrp="1" noChangeAspect="1"/>
          </p:cNvPicPr>
          <p:nvPr>
            <p:ph idx="1"/>
          </p:nvPr>
        </p:nvPicPr>
        <p:blipFill>
          <a:blip r:embed="rId2"/>
          <a:srcRect l="25467" t="6619" r="26887" b="5190"/>
          <a:stretch>
            <a:fillRect/>
          </a:stretch>
        </p:blipFill>
        <p:spPr>
          <a:xfrm>
            <a:off x="3020518" y="296721"/>
            <a:ext cx="6870491" cy="6264557"/>
          </a:xfrm>
          <a:prstGeom prst="rect">
            <a:avLst/>
          </a:prstGeom>
        </p:spPr>
      </p:pic>
    </p:spTree>
    <p:extLst>
      <p:ext uri="{BB962C8B-B14F-4D97-AF65-F5344CB8AC3E}">
        <p14:creationId xmlns:p14="http://schemas.microsoft.com/office/powerpoint/2010/main" val="19530173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125EC12-60C4-A5E6-6145-046811E2AAEA}"/>
              </a:ext>
            </a:extLst>
          </p:cNvPr>
          <p:cNvPicPr>
            <a:picLocks noGrp="1" noChangeAspect="1"/>
          </p:cNvPicPr>
          <p:nvPr>
            <p:ph idx="1"/>
          </p:nvPr>
        </p:nvPicPr>
        <p:blipFill>
          <a:blip r:embed="rId2"/>
          <a:srcRect l="25466" t="4207" r="25337" b="5536"/>
          <a:stretch>
            <a:fillRect/>
          </a:stretch>
        </p:blipFill>
        <p:spPr>
          <a:xfrm>
            <a:off x="3038006" y="365125"/>
            <a:ext cx="6115987" cy="6308618"/>
          </a:xfrm>
          <a:prstGeom prst="rect">
            <a:avLst/>
          </a:prstGeom>
        </p:spPr>
      </p:pic>
    </p:spTree>
    <p:extLst>
      <p:ext uri="{BB962C8B-B14F-4D97-AF65-F5344CB8AC3E}">
        <p14:creationId xmlns:p14="http://schemas.microsoft.com/office/powerpoint/2010/main" val="14946382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AF9C456-B478-1232-099B-1EEDCBC7635C}"/>
              </a:ext>
            </a:extLst>
          </p:cNvPr>
          <p:cNvPicPr>
            <a:picLocks noGrp="1" noChangeAspect="1"/>
          </p:cNvPicPr>
          <p:nvPr>
            <p:ph idx="1"/>
          </p:nvPr>
        </p:nvPicPr>
        <p:blipFill>
          <a:blip r:embed="rId2"/>
          <a:srcRect l="24878" t="3986" r="24985" b="5788"/>
          <a:stretch>
            <a:fillRect/>
          </a:stretch>
        </p:blipFill>
        <p:spPr>
          <a:xfrm>
            <a:off x="2773179" y="104931"/>
            <a:ext cx="6115987" cy="6190938"/>
          </a:xfrm>
          <a:prstGeom prst="rect">
            <a:avLst/>
          </a:prstGeom>
        </p:spPr>
      </p:pic>
    </p:spTree>
    <p:extLst>
      <p:ext uri="{BB962C8B-B14F-4D97-AF65-F5344CB8AC3E}">
        <p14:creationId xmlns:p14="http://schemas.microsoft.com/office/powerpoint/2010/main" val="19965431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C1E6F-4B96-018A-A419-074C9C2EB6F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75F2144D-2651-1758-F087-9CD7CD1C730C}"/>
              </a:ext>
            </a:extLst>
          </p:cNvPr>
          <p:cNvPicPr>
            <a:picLocks noGrp="1" noChangeAspect="1"/>
          </p:cNvPicPr>
          <p:nvPr>
            <p:ph idx="1"/>
          </p:nvPr>
        </p:nvPicPr>
        <p:blipFill>
          <a:blip r:embed="rId2"/>
          <a:srcRect l="24886" t="6963" r="26306" b="5535"/>
          <a:stretch>
            <a:fillRect/>
          </a:stretch>
        </p:blipFill>
        <p:spPr>
          <a:xfrm>
            <a:off x="2918084" y="365125"/>
            <a:ext cx="6355831" cy="6406272"/>
          </a:xfrm>
          <a:prstGeom prst="rect">
            <a:avLst/>
          </a:prstGeom>
        </p:spPr>
      </p:pic>
    </p:spTree>
    <p:extLst>
      <p:ext uri="{BB962C8B-B14F-4D97-AF65-F5344CB8AC3E}">
        <p14:creationId xmlns:p14="http://schemas.microsoft.com/office/powerpoint/2010/main" val="1937379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D9898-01A7-C6EC-4AE7-4DE142D30EB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B58F598-3C4D-FA28-895A-18D7209A4E44}"/>
              </a:ext>
            </a:extLst>
          </p:cNvPr>
          <p:cNvPicPr>
            <a:picLocks noGrp="1" noChangeAspect="1"/>
          </p:cNvPicPr>
          <p:nvPr>
            <p:ph idx="1"/>
          </p:nvPr>
        </p:nvPicPr>
        <p:blipFill>
          <a:blip r:embed="rId2"/>
          <a:srcRect l="25273" t="5750" r="25919" b="5190"/>
          <a:stretch>
            <a:fillRect/>
          </a:stretch>
        </p:blipFill>
        <p:spPr>
          <a:xfrm>
            <a:off x="2593299" y="365125"/>
            <a:ext cx="6520720" cy="6310312"/>
          </a:xfrm>
          <a:prstGeom prst="rect">
            <a:avLst/>
          </a:prstGeom>
        </p:spPr>
      </p:pic>
    </p:spTree>
    <p:extLst>
      <p:ext uri="{BB962C8B-B14F-4D97-AF65-F5344CB8AC3E}">
        <p14:creationId xmlns:p14="http://schemas.microsoft.com/office/powerpoint/2010/main" val="33095888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6B7A7D7-92A3-6F44-5B3C-C801B94BB7DB}"/>
              </a:ext>
            </a:extLst>
          </p:cNvPr>
          <p:cNvPicPr>
            <a:picLocks noGrp="1" noChangeAspect="1"/>
          </p:cNvPicPr>
          <p:nvPr>
            <p:ph idx="1"/>
          </p:nvPr>
        </p:nvPicPr>
        <p:blipFill>
          <a:blip r:embed="rId2"/>
          <a:srcRect l="24959" t="3863" r="25929" b="5879"/>
          <a:stretch>
            <a:fillRect/>
          </a:stretch>
        </p:blipFill>
        <p:spPr>
          <a:xfrm>
            <a:off x="3282846" y="596104"/>
            <a:ext cx="5276538" cy="5665792"/>
          </a:xfrm>
          <a:prstGeom prst="rect">
            <a:avLst/>
          </a:prstGeom>
        </p:spPr>
      </p:pic>
    </p:spTree>
    <p:extLst>
      <p:ext uri="{BB962C8B-B14F-4D97-AF65-F5344CB8AC3E}">
        <p14:creationId xmlns:p14="http://schemas.microsoft.com/office/powerpoint/2010/main" val="30764972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28EF3-90FC-4F4C-CA66-6BCAF8C6B4EF}"/>
              </a:ext>
            </a:extLst>
          </p:cNvPr>
          <p:cNvSpPr>
            <a:spLocks noGrp="1"/>
          </p:cNvSpPr>
          <p:nvPr>
            <p:ph type="title"/>
          </p:nvPr>
        </p:nvSpPr>
        <p:spPr/>
        <p:txBody>
          <a:bodyPr/>
          <a:lstStyle/>
          <a:p>
            <a:r>
              <a:rPr lang="en-IN" dirty="0"/>
              <a:t>Multimodal Pre-Training</a:t>
            </a:r>
            <a:br>
              <a:rPr lang="en-IN" dirty="0"/>
            </a:br>
            <a:endParaRPr lang="en-IN" dirty="0"/>
          </a:p>
        </p:txBody>
      </p:sp>
      <p:pic>
        <p:nvPicPr>
          <p:cNvPr id="2050" name="Picture 2">
            <a:extLst>
              <a:ext uri="{FF2B5EF4-FFF2-40B4-BE49-F238E27FC236}">
                <a16:creationId xmlns:a16="http://schemas.microsoft.com/office/drawing/2014/main" id="{14F5247F-3176-0BDA-A0F0-4EBA502F493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92685" y="1556983"/>
            <a:ext cx="11463248" cy="4199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24824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CB28F-8C38-9280-0F51-C2BBF7B965D8}"/>
              </a:ext>
            </a:extLst>
          </p:cNvPr>
          <p:cNvSpPr>
            <a:spLocks noGrp="1"/>
          </p:cNvSpPr>
          <p:nvPr>
            <p:ph type="title"/>
          </p:nvPr>
        </p:nvSpPr>
        <p:spPr/>
        <p:txBody>
          <a:bodyPr/>
          <a:lstStyle/>
          <a:p>
            <a:r>
              <a:rPr lang="en-IN" dirty="0"/>
              <a:t>Video Tokenization Techniques</a:t>
            </a:r>
            <a:br>
              <a:rPr lang="en-IN" dirty="0"/>
            </a:br>
            <a:endParaRPr lang="en-IN" dirty="0"/>
          </a:p>
        </p:txBody>
      </p:sp>
      <p:sp>
        <p:nvSpPr>
          <p:cNvPr id="3" name="Content Placeholder 2">
            <a:extLst>
              <a:ext uri="{FF2B5EF4-FFF2-40B4-BE49-F238E27FC236}">
                <a16:creationId xmlns:a16="http://schemas.microsoft.com/office/drawing/2014/main" id="{E87BB0FC-3045-0E2C-2461-CDB274C7B5A1}"/>
              </a:ext>
            </a:extLst>
          </p:cNvPr>
          <p:cNvSpPr>
            <a:spLocks noGrp="1"/>
          </p:cNvSpPr>
          <p:nvPr>
            <p:ph idx="1"/>
          </p:nvPr>
        </p:nvSpPr>
        <p:spPr>
          <a:xfrm>
            <a:off x="253582" y="1405899"/>
            <a:ext cx="11938417" cy="5086975"/>
          </a:xfrm>
        </p:spPr>
        <p:txBody>
          <a:bodyPr/>
          <a:lstStyle/>
          <a:p>
            <a:r>
              <a:rPr lang="en-US" dirty="0"/>
              <a:t>Tokenization is the process of breaking down a video into smaller units called tokens, which can be used as input to a Transformer model. Here are some common tokenization techniques for videos:</a:t>
            </a:r>
          </a:p>
          <a:p>
            <a:r>
              <a:rPr lang="en-IN" dirty="0"/>
              <a:t>Image-based embedding</a:t>
            </a:r>
          </a:p>
          <a:p>
            <a:r>
              <a:rPr lang="en-IN" dirty="0"/>
              <a:t>Audio-based embedding</a:t>
            </a:r>
          </a:p>
          <a:p>
            <a:r>
              <a:rPr lang="en-IN" dirty="0"/>
              <a:t>Joint audio-visual embedding</a:t>
            </a:r>
          </a:p>
          <a:p>
            <a:r>
              <a:rPr lang="en-IN" dirty="0"/>
              <a:t>Temporal embedding</a:t>
            </a:r>
          </a:p>
          <a:p>
            <a:r>
              <a:rPr lang="en-IN" dirty="0"/>
              <a:t>Spatial embedding</a:t>
            </a:r>
          </a:p>
        </p:txBody>
      </p:sp>
    </p:spTree>
    <p:extLst>
      <p:ext uri="{BB962C8B-B14F-4D97-AF65-F5344CB8AC3E}">
        <p14:creationId xmlns:p14="http://schemas.microsoft.com/office/powerpoint/2010/main" val="5187399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1244D-E3BA-9520-190B-BB53DF9C3D5B}"/>
              </a:ext>
            </a:extLst>
          </p:cNvPr>
          <p:cNvSpPr>
            <a:spLocks noGrp="1"/>
          </p:cNvSpPr>
          <p:nvPr>
            <p:ph type="title"/>
          </p:nvPr>
        </p:nvSpPr>
        <p:spPr/>
        <p:txBody>
          <a:bodyPr/>
          <a:lstStyle/>
          <a:p>
            <a:r>
              <a:rPr lang="en-IN" dirty="0"/>
              <a:t>Role of Positional Embeddings</a:t>
            </a:r>
            <a:br>
              <a:rPr lang="en-IN" dirty="0"/>
            </a:br>
            <a:endParaRPr lang="en-IN" dirty="0"/>
          </a:p>
        </p:txBody>
      </p:sp>
      <p:sp>
        <p:nvSpPr>
          <p:cNvPr id="3" name="Content Placeholder 2">
            <a:extLst>
              <a:ext uri="{FF2B5EF4-FFF2-40B4-BE49-F238E27FC236}">
                <a16:creationId xmlns:a16="http://schemas.microsoft.com/office/drawing/2014/main" id="{27380A00-B559-BF05-F699-6A014FCDAC87}"/>
              </a:ext>
            </a:extLst>
          </p:cNvPr>
          <p:cNvSpPr>
            <a:spLocks noGrp="1"/>
          </p:cNvSpPr>
          <p:nvPr>
            <p:ph idx="1"/>
          </p:nvPr>
        </p:nvSpPr>
        <p:spPr/>
        <p:txBody>
          <a:bodyPr/>
          <a:lstStyle/>
          <a:p>
            <a:pPr algn="just"/>
            <a:r>
              <a:rPr lang="en-US" sz="2400" dirty="0">
                <a:latin typeface="Calibri" panose="020F0502020204030204" pitchFamily="34" charset="0"/>
                <a:ea typeface="Calibri" panose="020F0502020204030204" pitchFamily="34" charset="0"/>
                <a:cs typeface="Calibri" panose="020F0502020204030204" pitchFamily="34" charset="0"/>
              </a:rPr>
              <a:t>Self-attention is the essential operation of the Transformer. It enhances each token embedding with information from other embeddings in a sequence It is crucial to indicate positional information to utilize the spatiotemporal structure of videos. This is achieved using positional embeddings (PE), which encode the temporal position information of video frames or clips within the Transformer.</a:t>
            </a:r>
          </a:p>
          <a:p>
            <a:pPr algn="just"/>
            <a:r>
              <a:rPr lang="en-IN" sz="2400" dirty="0">
                <a:latin typeface="Calibri" panose="020F0502020204030204" pitchFamily="34" charset="0"/>
                <a:ea typeface="Calibri" panose="020F0502020204030204" pitchFamily="34" charset="0"/>
                <a:cs typeface="Calibri" panose="020F0502020204030204" pitchFamily="34" charset="0"/>
              </a:rPr>
              <a:t>Learned positional embedding</a:t>
            </a:r>
          </a:p>
          <a:p>
            <a:pPr algn="just"/>
            <a:r>
              <a:rPr lang="en-IN" sz="2400" dirty="0">
                <a:latin typeface="Calibri" panose="020F0502020204030204" pitchFamily="34" charset="0"/>
                <a:ea typeface="Calibri" panose="020F0502020204030204" pitchFamily="34" charset="0"/>
                <a:cs typeface="Calibri" panose="020F0502020204030204" pitchFamily="34" charset="0"/>
              </a:rPr>
              <a:t>Fixed positional encoding</a:t>
            </a:r>
          </a:p>
          <a:p>
            <a:pPr algn="just"/>
            <a:r>
              <a:rPr lang="en-IN" sz="2400" dirty="0">
                <a:latin typeface="Calibri" panose="020F0502020204030204" pitchFamily="34" charset="0"/>
                <a:ea typeface="Calibri" panose="020F0502020204030204" pitchFamily="34" charset="0"/>
                <a:cs typeface="Calibri" panose="020F0502020204030204" pitchFamily="34" charset="0"/>
              </a:rPr>
              <a:t>Relative positional encoding</a:t>
            </a:r>
          </a:p>
          <a:p>
            <a:pPr algn="just"/>
            <a:r>
              <a:rPr lang="en-IN" sz="2400" dirty="0">
                <a:latin typeface="Calibri" panose="020F0502020204030204" pitchFamily="34" charset="0"/>
                <a:ea typeface="Calibri" panose="020F0502020204030204" pitchFamily="34" charset="0"/>
                <a:cs typeface="Calibri" panose="020F0502020204030204" pitchFamily="34" charset="0"/>
              </a:rPr>
              <a:t>Hybrid approaches</a:t>
            </a:r>
          </a:p>
          <a:p>
            <a:pPr algn="just"/>
            <a:r>
              <a:rPr lang="en-IN" sz="2400" dirty="0">
                <a:latin typeface="Calibri" panose="020F0502020204030204" pitchFamily="34" charset="0"/>
                <a:ea typeface="Calibri" panose="020F0502020204030204" pitchFamily="34" charset="0"/>
                <a:cs typeface="Calibri" panose="020F0502020204030204" pitchFamily="34" charset="0"/>
              </a:rPr>
              <a:t>Embeddings In Production</a:t>
            </a:r>
          </a:p>
          <a:p>
            <a:pPr algn="just"/>
            <a:endParaRPr lang="en-IN"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409751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B0FDF-9130-8786-FC77-48763194BF5F}"/>
              </a:ext>
            </a:extLst>
          </p:cNvPr>
          <p:cNvSpPr>
            <a:spLocks noGrp="1"/>
          </p:cNvSpPr>
          <p:nvPr>
            <p:ph type="title"/>
          </p:nvPr>
        </p:nvSpPr>
        <p:spPr/>
        <p:txBody>
          <a:bodyPr/>
          <a:lstStyle/>
          <a:p>
            <a:r>
              <a:rPr lang="en-IN" dirty="0"/>
              <a:t>Embeddings In Production</a:t>
            </a:r>
          </a:p>
        </p:txBody>
      </p:sp>
      <p:pic>
        <p:nvPicPr>
          <p:cNvPr id="3074" name="Picture 2">
            <a:extLst>
              <a:ext uri="{FF2B5EF4-FFF2-40B4-BE49-F238E27FC236}">
                <a16:creationId xmlns:a16="http://schemas.microsoft.com/office/drawing/2014/main" id="{B88F74DD-BD14-D0DD-16BE-6B39F70CD95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243819" y="2083783"/>
            <a:ext cx="5765943" cy="341632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74A846E-7BBC-A31A-93C1-F1A6F4E44AD0}"/>
              </a:ext>
            </a:extLst>
          </p:cNvPr>
          <p:cNvSpPr txBox="1"/>
          <p:nvPr/>
        </p:nvSpPr>
        <p:spPr>
          <a:xfrm>
            <a:off x="73701" y="2368204"/>
            <a:ext cx="6022299" cy="3416320"/>
          </a:xfrm>
          <a:prstGeom prst="rect">
            <a:avLst/>
          </a:prstGeom>
          <a:noFill/>
        </p:spPr>
        <p:txBody>
          <a:bodyPr wrap="square">
            <a:spAutoFit/>
          </a:bodyPr>
          <a:lstStyle/>
          <a:p>
            <a:pPr algn="just"/>
            <a:r>
              <a:rPr lang="en-US" sz="2400" dirty="0">
                <a:latin typeface="Calibri" panose="020F0502020204030204" pitchFamily="34" charset="0"/>
                <a:ea typeface="Calibri" panose="020F0502020204030204" pitchFamily="34" charset="0"/>
                <a:cs typeface="Calibri" panose="020F0502020204030204" pitchFamily="34" charset="0"/>
              </a:rPr>
              <a:t>As YouTube has over 800 million pieces of content (videos) and 2.6 billion active users, the application needs to recommend existing content to users while also being able to generalize to new content, which is frequently uploaded. </a:t>
            </a:r>
          </a:p>
          <a:p>
            <a:pPr algn="just"/>
            <a:r>
              <a:rPr lang="en-US" sz="2400" dirty="0">
                <a:latin typeface="Calibri" panose="020F0502020204030204" pitchFamily="34" charset="0"/>
                <a:ea typeface="Calibri" panose="020F0502020204030204" pitchFamily="34" charset="0"/>
                <a:cs typeface="Calibri" panose="020F0502020204030204" pitchFamily="34" charset="0"/>
              </a:rPr>
              <a:t>These recommendations need to be served quickly at inference time—when the user loads a new page—with low latency.</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893143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A948C-F337-3FC0-BB61-51960A855F2D}"/>
              </a:ext>
            </a:extLst>
          </p:cNvPr>
          <p:cNvSpPr>
            <a:spLocks noGrp="1"/>
          </p:cNvSpPr>
          <p:nvPr>
            <p:ph type="title"/>
          </p:nvPr>
        </p:nvSpPr>
        <p:spPr/>
        <p:txBody>
          <a:bodyPr/>
          <a:lstStyle/>
          <a:p>
            <a:r>
              <a:rPr lang="en-IN" dirty="0"/>
              <a:t>Embeddings In Production</a:t>
            </a:r>
          </a:p>
        </p:txBody>
      </p:sp>
      <p:sp>
        <p:nvSpPr>
          <p:cNvPr id="3" name="Content Placeholder 2">
            <a:extLst>
              <a:ext uri="{FF2B5EF4-FFF2-40B4-BE49-F238E27FC236}">
                <a16:creationId xmlns:a16="http://schemas.microsoft.com/office/drawing/2014/main" id="{C8F3E473-751A-6025-F6F6-AC2C4E5147CE}"/>
              </a:ext>
            </a:extLst>
          </p:cNvPr>
          <p:cNvSpPr>
            <a:spLocks noGrp="1"/>
          </p:cNvSpPr>
          <p:nvPr>
            <p:ph idx="1"/>
          </p:nvPr>
        </p:nvSpPr>
        <p:spPr>
          <a:xfrm>
            <a:off x="733268" y="1825625"/>
            <a:ext cx="11123951" cy="4667250"/>
          </a:xfrm>
        </p:spPr>
        <p:txBody>
          <a:bodyPr>
            <a:norm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Embeddings that represent the user and their context as features, and </a:t>
            </a:r>
          </a:p>
          <a:p>
            <a:r>
              <a:rPr lang="en-US" sz="2400" dirty="0">
                <a:latin typeface="Calibri" panose="020F0502020204030204" pitchFamily="34" charset="0"/>
                <a:ea typeface="Calibri" panose="020F0502020204030204" pitchFamily="34" charset="0"/>
                <a:cs typeface="Calibri" panose="020F0502020204030204" pitchFamily="34" charset="0"/>
              </a:rPr>
              <a:t>Embeddings that represent the video items. The model has many features, including ones based on tables and embeddings. The embeddings-based features include:</a:t>
            </a:r>
          </a:p>
          <a:p>
            <a:r>
              <a:rPr lang="en-US" sz="2400" dirty="0">
                <a:latin typeface="Calibri" panose="020F0502020204030204" pitchFamily="34" charset="0"/>
                <a:ea typeface="Calibri" panose="020F0502020204030204" pitchFamily="34" charset="0"/>
                <a:cs typeface="Calibri" panose="020F0502020204030204" pitchFamily="34" charset="0"/>
              </a:rPr>
              <a:t>User watch history - a vector that shows which videos the user has watched, represented as a sparse video ID mapped to a dense vector.</a:t>
            </a:r>
          </a:p>
          <a:p>
            <a:r>
              <a:rPr lang="en-US" sz="2400" dirty="0">
                <a:latin typeface="Calibri" panose="020F0502020204030204" pitchFamily="34" charset="0"/>
                <a:ea typeface="Calibri" panose="020F0502020204030204" pitchFamily="34" charset="0"/>
                <a:cs typeface="Calibri" panose="020F0502020204030204" pitchFamily="34" charset="0"/>
              </a:rPr>
              <a:t>User's search history - shows which videos the user clicked on after a search term. This is also represented as a sparse vector mapped to the same space as the user watch history.</a:t>
            </a:r>
          </a:p>
          <a:p>
            <a:r>
              <a:rPr lang="en-US" sz="2400" dirty="0">
                <a:latin typeface="Calibri" panose="020F0502020204030204" pitchFamily="34" charset="0"/>
                <a:ea typeface="Calibri" panose="020F0502020204030204" pitchFamily="34" charset="0"/>
                <a:cs typeface="Calibri" panose="020F0502020204030204" pitchFamily="34" charset="0"/>
              </a:rPr>
              <a:t>User's geography, age, and gender - shown as table features.</a:t>
            </a:r>
          </a:p>
          <a:p>
            <a:r>
              <a:rPr lang="en-US" sz="2400" dirty="0">
                <a:latin typeface="Calibri" panose="020F0502020204030204" pitchFamily="34" charset="0"/>
                <a:ea typeface="Calibri" panose="020F0502020204030204" pitchFamily="34" charset="0"/>
                <a:cs typeface="Calibri" panose="020F0502020204030204" pitchFamily="34" charset="0"/>
              </a:rPr>
              <a:t>The number of previous impressions a video had, normalized per user over time</a:t>
            </a:r>
          </a:p>
          <a:p>
            <a:endParaRPr lang="en-IN"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197254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A8539-F878-7430-1FBB-084CDA1BBCDD}"/>
              </a:ext>
            </a:extLst>
          </p:cNvPr>
          <p:cNvSpPr>
            <a:spLocks noGrp="1"/>
          </p:cNvSpPr>
          <p:nvPr>
            <p:ph type="title"/>
          </p:nvPr>
        </p:nvSpPr>
        <p:spPr>
          <a:xfrm>
            <a:off x="1009812" y="185591"/>
            <a:ext cx="10515600" cy="1325563"/>
          </a:xfrm>
        </p:spPr>
        <p:txBody>
          <a:bodyPr/>
          <a:lstStyle/>
          <a:p>
            <a:r>
              <a:rPr lang="en-IN" dirty="0"/>
              <a:t>Embeddings In Production</a:t>
            </a:r>
          </a:p>
        </p:txBody>
      </p:sp>
      <p:pic>
        <p:nvPicPr>
          <p:cNvPr id="4098" name="Picture 2">
            <a:extLst>
              <a:ext uri="{FF2B5EF4-FFF2-40B4-BE49-F238E27FC236}">
                <a16:creationId xmlns:a16="http://schemas.microsoft.com/office/drawing/2014/main" id="{8B0CCF5F-DCEB-4770-833D-27563E9BBB8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9812" y="1439057"/>
            <a:ext cx="10667525" cy="52333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43451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23B1B-F006-E98A-ACB4-0A362EE9E836}"/>
              </a:ext>
            </a:extLst>
          </p:cNvPr>
          <p:cNvSpPr>
            <a:spLocks noGrp="1"/>
          </p:cNvSpPr>
          <p:nvPr>
            <p:ph type="title"/>
          </p:nvPr>
        </p:nvSpPr>
        <p:spPr/>
        <p:txBody>
          <a:bodyPr/>
          <a:lstStyle/>
          <a:p>
            <a:r>
              <a:rPr lang="en-IN" dirty="0"/>
              <a:t>Multimodal Embedding</a:t>
            </a:r>
          </a:p>
        </p:txBody>
      </p:sp>
      <p:sp>
        <p:nvSpPr>
          <p:cNvPr id="3" name="Content Placeholder 2">
            <a:extLst>
              <a:ext uri="{FF2B5EF4-FFF2-40B4-BE49-F238E27FC236}">
                <a16:creationId xmlns:a16="http://schemas.microsoft.com/office/drawing/2014/main" id="{7393E78A-0940-D38D-0722-FFCA93DDEC90}"/>
              </a:ext>
            </a:extLst>
          </p:cNvPr>
          <p:cNvSpPr>
            <a:spLocks noGrp="1"/>
          </p:cNvSpPr>
          <p:nvPr>
            <p:ph idx="1"/>
          </p:nvPr>
        </p:nvSpPr>
        <p:spPr/>
        <p:txBody>
          <a:bodyPr/>
          <a:lstStyle/>
          <a:p>
            <a:r>
              <a:rPr lang="en-US" dirty="0"/>
              <a:t>One of the key features of MLLMs is their ability to embed both text and visual information into a unified space. </a:t>
            </a:r>
          </a:p>
          <a:p>
            <a:r>
              <a:rPr lang="en-US" dirty="0"/>
              <a:t>This technique involves projecting data from different modalities—primarily text and images in the context of MLLMs—into a shared, high-dimensional vector space.</a:t>
            </a:r>
          </a:p>
          <a:p>
            <a:r>
              <a:rPr lang="en-US" dirty="0"/>
              <a:t>The resulting embeddings capture semantic relationships not only within each modality but also across modalities, facilitating more sophisticated cross-modal reasoning and analysis.</a:t>
            </a:r>
            <a:endParaRPr lang="en-IN" dirty="0"/>
          </a:p>
        </p:txBody>
      </p:sp>
    </p:spTree>
    <p:extLst>
      <p:ext uri="{BB962C8B-B14F-4D97-AF65-F5344CB8AC3E}">
        <p14:creationId xmlns:p14="http://schemas.microsoft.com/office/powerpoint/2010/main" val="14988561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A313E-988A-DFE3-6BE9-559AC9362F3A}"/>
              </a:ext>
            </a:extLst>
          </p:cNvPr>
          <p:cNvSpPr>
            <a:spLocks noGrp="1"/>
          </p:cNvSpPr>
          <p:nvPr>
            <p:ph type="title"/>
          </p:nvPr>
        </p:nvSpPr>
        <p:spPr/>
        <p:txBody>
          <a:bodyPr/>
          <a:lstStyle/>
          <a:p>
            <a:r>
              <a:rPr lang="en-IN" dirty="0"/>
              <a:t>Multimodal Embedding</a:t>
            </a:r>
          </a:p>
        </p:txBody>
      </p:sp>
      <p:sp>
        <p:nvSpPr>
          <p:cNvPr id="3" name="Content Placeholder 2">
            <a:extLst>
              <a:ext uri="{FF2B5EF4-FFF2-40B4-BE49-F238E27FC236}">
                <a16:creationId xmlns:a16="http://schemas.microsoft.com/office/drawing/2014/main" id="{537394CF-73B9-BAD9-9D61-ABE1DE49711C}"/>
              </a:ext>
            </a:extLst>
          </p:cNvPr>
          <p:cNvSpPr>
            <a:spLocks noGrp="1"/>
          </p:cNvSpPr>
          <p:nvPr>
            <p:ph idx="1"/>
          </p:nvPr>
        </p:nvSpPr>
        <p:spPr>
          <a:xfrm>
            <a:off x="209862" y="1690687"/>
            <a:ext cx="11982138" cy="4802188"/>
          </a:xfrm>
        </p:spPr>
        <p:txBody>
          <a:bodyPr/>
          <a:lstStyle/>
          <a:p>
            <a:pPr algn="just"/>
            <a:r>
              <a:rPr lang="en-IN" dirty="0"/>
              <a:t>Modality-</a:t>
            </a:r>
            <a:r>
              <a:rPr lang="en-IN" dirty="0" err="1"/>
              <a:t>Speific</a:t>
            </a:r>
            <a:r>
              <a:rPr lang="en-IN" dirty="0"/>
              <a:t> Encoding</a:t>
            </a:r>
          </a:p>
          <a:p>
            <a:pPr algn="just"/>
            <a:r>
              <a:rPr lang="en-IN" dirty="0"/>
              <a:t>Dimensionality Alignment</a:t>
            </a:r>
          </a:p>
          <a:p>
            <a:pPr algn="just"/>
            <a:r>
              <a:rPr lang="en-IN" dirty="0"/>
              <a:t>Joint Representation Learning:</a:t>
            </a:r>
          </a:p>
          <a:p>
            <a:pPr algn="just"/>
            <a:r>
              <a:rPr lang="en-IN" dirty="0"/>
              <a:t>Contrastive Learning:</a:t>
            </a:r>
            <a:r>
              <a:rPr lang="en-US" dirty="0"/>
              <a:t>Many state-of-the-art MLLMs employ contrastive learning. Produce similar embeddings for semantically related text-image pairs while pushing apart unrelated pairs in the embedding space. </a:t>
            </a:r>
          </a:p>
          <a:p>
            <a:pPr algn="just"/>
            <a:r>
              <a:rPr lang="en-IN" dirty="0"/>
              <a:t>Fine-tuning for Downstream Tasks</a:t>
            </a:r>
            <a:endParaRPr lang="en-US" dirty="0"/>
          </a:p>
          <a:p>
            <a:endParaRPr lang="en-IN" dirty="0"/>
          </a:p>
          <a:p>
            <a:endParaRPr lang="en-IN" dirty="0"/>
          </a:p>
        </p:txBody>
      </p:sp>
    </p:spTree>
    <p:extLst>
      <p:ext uri="{BB962C8B-B14F-4D97-AF65-F5344CB8AC3E}">
        <p14:creationId xmlns:p14="http://schemas.microsoft.com/office/powerpoint/2010/main" val="25521975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EA6AC-7043-DB3F-B3C7-33703DA48CBE}"/>
              </a:ext>
            </a:extLst>
          </p:cNvPr>
          <p:cNvSpPr>
            <a:spLocks noGrp="1"/>
          </p:cNvSpPr>
          <p:nvPr>
            <p:ph type="title"/>
          </p:nvPr>
        </p:nvSpPr>
        <p:spPr>
          <a:xfrm>
            <a:off x="838200" y="365125"/>
            <a:ext cx="9729866" cy="909039"/>
          </a:xfrm>
        </p:spPr>
        <p:txBody>
          <a:bodyPr/>
          <a:lstStyle/>
          <a:p>
            <a:r>
              <a:rPr lang="en-IN" dirty="0"/>
              <a:t>Multimodal Embedding</a:t>
            </a:r>
          </a:p>
        </p:txBody>
      </p:sp>
      <p:pic>
        <p:nvPicPr>
          <p:cNvPr id="5" name="Content Placeholder 4">
            <a:extLst>
              <a:ext uri="{FF2B5EF4-FFF2-40B4-BE49-F238E27FC236}">
                <a16:creationId xmlns:a16="http://schemas.microsoft.com/office/drawing/2014/main" id="{0F21B3BE-2907-BF1A-B380-CE8887C1E2ED}"/>
              </a:ext>
            </a:extLst>
          </p:cNvPr>
          <p:cNvPicPr>
            <a:picLocks noGrp="1" noChangeAspect="1"/>
          </p:cNvPicPr>
          <p:nvPr>
            <p:ph idx="1"/>
          </p:nvPr>
        </p:nvPicPr>
        <p:blipFill>
          <a:blip r:embed="rId2"/>
          <a:stretch>
            <a:fillRect/>
          </a:stretch>
        </p:blipFill>
        <p:spPr>
          <a:xfrm>
            <a:off x="1214203" y="1585756"/>
            <a:ext cx="7285220" cy="5142660"/>
          </a:xfrm>
          <a:prstGeom prst="rect">
            <a:avLst/>
          </a:prstGeom>
        </p:spPr>
      </p:pic>
    </p:spTree>
    <p:extLst>
      <p:ext uri="{BB962C8B-B14F-4D97-AF65-F5344CB8AC3E}">
        <p14:creationId xmlns:p14="http://schemas.microsoft.com/office/powerpoint/2010/main" val="29906823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90AB2-AB4A-F4B4-8EC4-36EBD09E4CB5}"/>
              </a:ext>
            </a:extLst>
          </p:cNvPr>
          <p:cNvSpPr>
            <a:spLocks noGrp="1"/>
          </p:cNvSpPr>
          <p:nvPr>
            <p:ph type="title"/>
          </p:nvPr>
        </p:nvSpPr>
        <p:spPr/>
        <p:txBody>
          <a:bodyPr/>
          <a:lstStyle/>
          <a:p>
            <a:r>
              <a:rPr lang="en-IN" dirty="0"/>
              <a:t>Cross-Attention Layers</a:t>
            </a:r>
          </a:p>
        </p:txBody>
      </p:sp>
      <p:sp>
        <p:nvSpPr>
          <p:cNvPr id="3" name="Content Placeholder 2">
            <a:extLst>
              <a:ext uri="{FF2B5EF4-FFF2-40B4-BE49-F238E27FC236}">
                <a16:creationId xmlns:a16="http://schemas.microsoft.com/office/drawing/2014/main" id="{8A332142-18D2-EE6E-F78F-DCAD8574254F}"/>
              </a:ext>
            </a:extLst>
          </p:cNvPr>
          <p:cNvSpPr>
            <a:spLocks noGrp="1"/>
          </p:cNvSpPr>
          <p:nvPr>
            <p:ph idx="1"/>
          </p:nvPr>
        </p:nvSpPr>
        <p:spPr>
          <a:xfrm>
            <a:off x="238593" y="1690687"/>
            <a:ext cx="6267137" cy="4395320"/>
          </a:xfrm>
        </p:spPr>
        <p:txBody>
          <a:bodyPr>
            <a:normAutofit fontScale="85000" lnSpcReduction="10000"/>
          </a:bodyPr>
          <a:lstStyle/>
          <a:p>
            <a:pPr algn="just"/>
            <a:r>
              <a:rPr lang="en-US" dirty="0"/>
              <a:t>These layers enable the model to dynamically focus on relevant aspects of one modality while processing information from the other, thereby enhancing the model’s capacity to understand and reason about multimodal inputs.</a:t>
            </a:r>
          </a:p>
          <a:p>
            <a:pPr algn="just"/>
            <a:r>
              <a:rPr lang="en-US" dirty="0"/>
              <a:t>The mechanism of cross-attention is derived from the self-attention concept introduced in the Transformer architecture. However, unlike self-attention, which operates within a single modality, cross-attention allows the model to attend to information across different modalities. </a:t>
            </a:r>
            <a:endParaRPr lang="en-IN" dirty="0"/>
          </a:p>
        </p:txBody>
      </p:sp>
      <p:pic>
        <p:nvPicPr>
          <p:cNvPr id="5" name="Picture 4">
            <a:extLst>
              <a:ext uri="{FF2B5EF4-FFF2-40B4-BE49-F238E27FC236}">
                <a16:creationId xmlns:a16="http://schemas.microsoft.com/office/drawing/2014/main" id="{8911B541-BDFF-B3E5-0E74-43C17CCB9E4E}"/>
              </a:ext>
            </a:extLst>
          </p:cNvPr>
          <p:cNvPicPr>
            <a:picLocks noChangeAspect="1"/>
          </p:cNvPicPr>
          <p:nvPr/>
        </p:nvPicPr>
        <p:blipFill>
          <a:blip r:embed="rId3"/>
          <a:stretch>
            <a:fillRect/>
          </a:stretch>
        </p:blipFill>
        <p:spPr>
          <a:xfrm>
            <a:off x="6742504" y="1241692"/>
            <a:ext cx="5210902" cy="3639058"/>
          </a:xfrm>
          <a:prstGeom prst="rect">
            <a:avLst/>
          </a:prstGeom>
        </p:spPr>
      </p:pic>
    </p:spTree>
    <p:extLst>
      <p:ext uri="{BB962C8B-B14F-4D97-AF65-F5344CB8AC3E}">
        <p14:creationId xmlns:p14="http://schemas.microsoft.com/office/powerpoint/2010/main" val="2079259939"/>
      </p:ext>
    </p:extLst>
  </p:cSld>
  <p:clrMapOvr>
    <a:overrideClrMapping bg1="lt1" tx1="dk1" bg2="lt2" tx2="dk2" accent1="accent1" accent2="accent2" accent3="accent3" accent4="accent4" accent5="accent5" accent6="accent6" hlink="hlink" folHlink="folHlink"/>
  </p:clrMapOvr>
</p:sld>
</file>

<file path=ppt/slides/slide4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D703F-F898-00C0-5019-3D37D81D123C}"/>
              </a:ext>
            </a:extLst>
          </p:cNvPr>
          <p:cNvSpPr>
            <a:spLocks noGrp="1"/>
          </p:cNvSpPr>
          <p:nvPr>
            <p:ph type="title"/>
          </p:nvPr>
        </p:nvSpPr>
        <p:spPr>
          <a:xfrm>
            <a:off x="711408" y="176768"/>
            <a:ext cx="10515600" cy="1325563"/>
          </a:xfrm>
        </p:spPr>
        <p:txBody>
          <a:bodyPr/>
          <a:lstStyle/>
          <a:p>
            <a:r>
              <a:rPr lang="en-US" dirty="0"/>
              <a:t>CLIP</a:t>
            </a:r>
            <a:endParaRPr lang="en-IN" dirty="0"/>
          </a:p>
        </p:txBody>
      </p:sp>
      <p:sp>
        <p:nvSpPr>
          <p:cNvPr id="3" name="Content Placeholder 2">
            <a:extLst>
              <a:ext uri="{FF2B5EF4-FFF2-40B4-BE49-F238E27FC236}">
                <a16:creationId xmlns:a16="http://schemas.microsoft.com/office/drawing/2014/main" id="{BE8D23E2-E63F-9CF9-E2E3-03AD15019C0C}"/>
              </a:ext>
            </a:extLst>
          </p:cNvPr>
          <p:cNvSpPr>
            <a:spLocks noGrp="1"/>
          </p:cNvSpPr>
          <p:nvPr>
            <p:ph idx="1"/>
          </p:nvPr>
        </p:nvSpPr>
        <p:spPr>
          <a:xfrm>
            <a:off x="395990" y="1259174"/>
            <a:ext cx="11656102" cy="5052726"/>
          </a:xfrm>
        </p:spPr>
        <p:txBody>
          <a:bodyPr>
            <a:normAutofit fontScale="92500" lnSpcReduction="10000"/>
          </a:bodyPr>
          <a:lstStyle/>
          <a:p>
            <a:r>
              <a:rPr lang="en-US" sz="2400" dirty="0">
                <a:latin typeface="Calibri" panose="020F0502020204030204" pitchFamily="34" charset="0"/>
                <a:ea typeface="Calibri" panose="020F0502020204030204" pitchFamily="34" charset="0"/>
                <a:cs typeface="Calibri" panose="020F0502020204030204" pitchFamily="34" charset="0"/>
              </a:rPr>
              <a:t>In 2021, </a:t>
            </a:r>
            <a:r>
              <a:rPr lang="en-US" sz="2400" b="1" dirty="0">
                <a:latin typeface="Calibri" panose="020F0502020204030204" pitchFamily="34" charset="0"/>
                <a:ea typeface="Calibri" panose="020F0502020204030204" pitchFamily="34" charset="0"/>
                <a:cs typeface="Calibri" panose="020F0502020204030204" pitchFamily="34" charset="0"/>
              </a:rPr>
              <a:t>CLIP</a:t>
            </a:r>
            <a:r>
              <a:rPr lang="en-US" sz="2400" dirty="0">
                <a:latin typeface="Calibri" panose="020F0502020204030204" pitchFamily="34" charset="0"/>
                <a:ea typeface="Calibri" panose="020F0502020204030204" pitchFamily="34" charset="0"/>
                <a:cs typeface="Calibri" panose="020F0502020204030204" pitchFamily="34" charset="0"/>
              </a:rPr>
              <a:t> was proposed as a new milestone. It uses multimodal pre-training to convert classification into a retrieval task, which enables pre-trained models to tackle zero-shot recognition. Thus, CLIP is a successful practice that fully utilizes large-scale multimodal pre-training to enable zero-shot learning. This has become a main breakthrough for many multimodal tasks. </a:t>
            </a:r>
          </a:p>
          <a:p>
            <a:pPr algn="just"/>
            <a:r>
              <a:rPr lang="en-US" sz="2400" dirty="0">
                <a:latin typeface="Calibri" panose="020F0502020204030204" pitchFamily="34" charset="0"/>
                <a:ea typeface="Calibri" panose="020F0502020204030204" pitchFamily="34" charset="0"/>
                <a:cs typeface="Calibri" panose="020F0502020204030204" pitchFamily="34" charset="0"/>
              </a:rPr>
              <a:t>CLIP stands for Contrastive Language–Image Pretraining, a groundbreaking model developed by OpenAI. It’s a multimodal neural network — meaning it understands both images and text — and can connect the two in meaningful ways.</a:t>
            </a:r>
          </a:p>
          <a:p>
            <a:pPr algn="just"/>
            <a:r>
              <a:rPr lang="en-IN" sz="2400" dirty="0">
                <a:latin typeface="Calibri" panose="020F0502020204030204" pitchFamily="34" charset="0"/>
                <a:ea typeface="Calibri" panose="020F0502020204030204" pitchFamily="34" charset="0"/>
                <a:cs typeface="Calibri" panose="020F0502020204030204" pitchFamily="34" charset="0"/>
              </a:rPr>
              <a:t>Vision Encoder (</a:t>
            </a:r>
            <a:r>
              <a:rPr lang="en-IN" sz="2400" dirty="0" err="1">
                <a:latin typeface="Calibri" panose="020F0502020204030204" pitchFamily="34" charset="0"/>
                <a:ea typeface="Calibri" panose="020F0502020204030204" pitchFamily="34" charset="0"/>
                <a:cs typeface="Calibri" panose="020F0502020204030204" pitchFamily="34" charset="0"/>
              </a:rPr>
              <a:t>ViT</a:t>
            </a:r>
            <a:r>
              <a:rPr lang="en-IN" sz="2400" dirty="0">
                <a:latin typeface="Calibri" panose="020F0502020204030204" pitchFamily="34" charset="0"/>
                <a:ea typeface="Calibri" panose="020F0502020204030204" pitchFamily="34" charset="0"/>
                <a:cs typeface="Calibri" panose="020F0502020204030204" pitchFamily="34" charset="0"/>
              </a:rPr>
              <a:t> or </a:t>
            </a:r>
            <a:r>
              <a:rPr lang="en-IN" sz="2400" dirty="0" err="1">
                <a:latin typeface="Calibri" panose="020F0502020204030204" pitchFamily="34" charset="0"/>
                <a:ea typeface="Calibri" panose="020F0502020204030204" pitchFamily="34" charset="0"/>
                <a:cs typeface="Calibri" panose="020F0502020204030204" pitchFamily="34" charset="0"/>
              </a:rPr>
              <a:t>ResNet</a:t>
            </a:r>
            <a:r>
              <a:rPr lang="en-IN" sz="2400" dirty="0">
                <a:latin typeface="Calibri" panose="020F0502020204030204" pitchFamily="34" charset="0"/>
                <a:ea typeface="Calibri" panose="020F0502020204030204" pitchFamily="34" charset="0"/>
                <a:cs typeface="Calibri" panose="020F0502020204030204" pitchFamily="34" charset="0"/>
              </a:rPr>
              <a:t>): Converts images into embeddings using a Vision Transformer or convolutional backbone.</a:t>
            </a:r>
          </a:p>
          <a:p>
            <a:pPr algn="just"/>
            <a:r>
              <a:rPr lang="en-IN" sz="2400" dirty="0">
                <a:latin typeface="Calibri" panose="020F0502020204030204" pitchFamily="34" charset="0"/>
                <a:ea typeface="Calibri" panose="020F0502020204030204" pitchFamily="34" charset="0"/>
                <a:cs typeface="Calibri" panose="020F0502020204030204" pitchFamily="34" charset="0"/>
              </a:rPr>
              <a:t>Text Encoder (Transformer): Converts text into embeddings (like a small BERT).</a:t>
            </a:r>
          </a:p>
          <a:p>
            <a:pPr algn="just"/>
            <a:r>
              <a:rPr lang="en-US" sz="2400" dirty="0">
                <a:latin typeface="Calibri" panose="020F0502020204030204" pitchFamily="34" charset="0"/>
                <a:ea typeface="Calibri" panose="020F0502020204030204" pitchFamily="34" charset="0"/>
                <a:cs typeface="Calibri" panose="020F0502020204030204" pitchFamily="34" charset="0"/>
              </a:rPr>
              <a:t>It uses a contrastive learning objective on a massive dataset of image–caption pairs (around 400 million pairs).</a:t>
            </a:r>
          </a:p>
          <a:p>
            <a:r>
              <a:rPr lang="en-US" sz="2400" dirty="0">
                <a:latin typeface="Calibri" panose="020F0502020204030204" pitchFamily="34" charset="0"/>
                <a:ea typeface="Calibri" panose="020F0502020204030204" pitchFamily="34" charset="0"/>
                <a:cs typeface="Calibri" panose="020F0502020204030204" pitchFamily="34" charset="0"/>
              </a:rPr>
              <a:t>Training  goal:</a:t>
            </a:r>
            <a:br>
              <a:rPr lang="en-US" sz="2400" dirty="0">
                <a:latin typeface="Calibri" panose="020F0502020204030204" pitchFamily="34" charset="0"/>
                <a:ea typeface="Calibri" panose="020F0502020204030204" pitchFamily="34" charset="0"/>
                <a:cs typeface="Calibri" panose="020F0502020204030204" pitchFamily="34" charset="0"/>
              </a:rPr>
            </a:br>
            <a:r>
              <a:rPr lang="en-US" sz="2400" dirty="0">
                <a:latin typeface="Calibri" panose="020F0502020204030204" pitchFamily="34" charset="0"/>
                <a:ea typeface="Calibri" panose="020F0502020204030204" pitchFamily="34" charset="0"/>
                <a:cs typeface="Calibri" panose="020F0502020204030204" pitchFamily="34" charset="0"/>
              </a:rPr>
              <a:t>Pull the embeddings of matching image–text pairs closer together and push non-matching pairs further apart.</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6B2E3E0-713D-75C1-3E38-5022CB3A15A9}"/>
              </a:ext>
            </a:extLst>
          </p:cNvPr>
          <p:cNvSpPr txBox="1"/>
          <p:nvPr/>
        </p:nvSpPr>
        <p:spPr>
          <a:xfrm>
            <a:off x="8368259" y="6488668"/>
            <a:ext cx="3683833" cy="369332"/>
          </a:xfrm>
          <a:prstGeom prst="rect">
            <a:avLst/>
          </a:prstGeom>
          <a:noFill/>
        </p:spPr>
        <p:txBody>
          <a:bodyPr wrap="square">
            <a:spAutoFit/>
          </a:bodyPr>
          <a:lstStyle/>
          <a:p>
            <a:r>
              <a:rPr lang="en-IN" dirty="0"/>
              <a:t>https://github.com/openai/CLIP</a:t>
            </a:r>
          </a:p>
        </p:txBody>
      </p:sp>
    </p:spTree>
    <p:extLst>
      <p:ext uri="{BB962C8B-B14F-4D97-AF65-F5344CB8AC3E}">
        <p14:creationId xmlns:p14="http://schemas.microsoft.com/office/powerpoint/2010/main" val="2283211429"/>
      </p:ext>
    </p:extLst>
  </p:cSld>
  <p:clrMapOvr>
    <a:overrideClrMapping bg1="lt1" tx1="dk1" bg2="lt2" tx2="dk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5B145-2267-A821-2CE2-B7B5A7B48AC4}"/>
              </a:ext>
            </a:extLst>
          </p:cNvPr>
          <p:cNvSpPr>
            <a:spLocks noGrp="1"/>
          </p:cNvSpPr>
          <p:nvPr>
            <p:ph type="title"/>
          </p:nvPr>
        </p:nvSpPr>
        <p:spPr/>
        <p:txBody>
          <a:bodyPr/>
          <a:lstStyle/>
          <a:p>
            <a:r>
              <a:rPr lang="en-IN" dirty="0"/>
              <a:t>Vision Encoders and Language Decoders</a:t>
            </a:r>
          </a:p>
        </p:txBody>
      </p:sp>
      <p:sp>
        <p:nvSpPr>
          <p:cNvPr id="3" name="Content Placeholder 2">
            <a:extLst>
              <a:ext uri="{FF2B5EF4-FFF2-40B4-BE49-F238E27FC236}">
                <a16:creationId xmlns:a16="http://schemas.microsoft.com/office/drawing/2014/main" id="{EFF3C757-848C-9571-F8E5-E9FEE2EB0890}"/>
              </a:ext>
            </a:extLst>
          </p:cNvPr>
          <p:cNvSpPr>
            <a:spLocks noGrp="1"/>
          </p:cNvSpPr>
          <p:nvPr>
            <p:ph idx="1"/>
          </p:nvPr>
        </p:nvSpPr>
        <p:spPr>
          <a:xfrm>
            <a:off x="616470" y="1825625"/>
            <a:ext cx="10959059" cy="4351338"/>
          </a:xfrm>
        </p:spPr>
        <p:txBody>
          <a:bodyPr>
            <a:normAutofit/>
          </a:bodyPr>
          <a:lstStyle/>
          <a:p>
            <a:pPr marL="0" indent="0">
              <a:buNone/>
            </a:pPr>
            <a:endParaRPr lang="en-IN" dirty="0"/>
          </a:p>
          <a:p>
            <a:r>
              <a:rPr lang="en-IN" dirty="0"/>
              <a:t>Vision Transformers (</a:t>
            </a:r>
            <a:r>
              <a:rPr lang="en-IN" dirty="0" err="1"/>
              <a:t>ViT</a:t>
            </a:r>
            <a:r>
              <a:rPr lang="en-IN" dirty="0"/>
              <a:t>):</a:t>
            </a:r>
            <a:r>
              <a:rPr lang="en-US" dirty="0"/>
              <a:t>An image is divided into fixed-size patches, which are linearly embedded and treated as a sequence of tokens.</a:t>
            </a:r>
          </a:p>
          <a:p>
            <a:pPr algn="just"/>
            <a:r>
              <a:rPr lang="en-US" dirty="0"/>
              <a:t>Language decoders in multimodal large language models (MLLMs) generate contextually grounded text by leveraging transformer-based architectures with self-attention and cross-attention mechanisms. Operating autoregressively, they produce tokens sequentially, attending both to prior outputs and to visual embeddings from the vision encoder. This enables cross-modal tasks such as image captioning and visual question answering.</a:t>
            </a:r>
            <a:endParaRPr lang="en-IN" dirty="0"/>
          </a:p>
        </p:txBody>
      </p:sp>
    </p:spTree>
    <p:extLst>
      <p:ext uri="{BB962C8B-B14F-4D97-AF65-F5344CB8AC3E}">
        <p14:creationId xmlns:p14="http://schemas.microsoft.com/office/powerpoint/2010/main" val="13409259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6D0F9-6F6E-0DF6-F388-75C1928493EA}"/>
              </a:ext>
            </a:extLst>
          </p:cNvPr>
          <p:cNvSpPr>
            <a:spLocks noGrp="1"/>
          </p:cNvSpPr>
          <p:nvPr>
            <p:ph type="title"/>
          </p:nvPr>
        </p:nvSpPr>
        <p:spPr>
          <a:xfrm>
            <a:off x="838200" y="128483"/>
            <a:ext cx="9744856" cy="980790"/>
          </a:xfrm>
        </p:spPr>
        <p:txBody>
          <a:bodyPr/>
          <a:lstStyle/>
          <a:p>
            <a:r>
              <a:rPr lang="en-US" dirty="0"/>
              <a:t>. A timeline of representative MLLMs</a:t>
            </a:r>
            <a:endParaRPr lang="en-IN" dirty="0"/>
          </a:p>
        </p:txBody>
      </p:sp>
      <p:pic>
        <p:nvPicPr>
          <p:cNvPr id="5" name="Content Placeholder 4">
            <a:extLst>
              <a:ext uri="{FF2B5EF4-FFF2-40B4-BE49-F238E27FC236}">
                <a16:creationId xmlns:a16="http://schemas.microsoft.com/office/drawing/2014/main" id="{05804B1A-2B55-A09D-B15C-007FEB44693B}"/>
              </a:ext>
            </a:extLst>
          </p:cNvPr>
          <p:cNvPicPr>
            <a:picLocks noGrp="1" noChangeAspect="1"/>
          </p:cNvPicPr>
          <p:nvPr>
            <p:ph idx="1"/>
          </p:nvPr>
        </p:nvPicPr>
        <p:blipFill>
          <a:blip r:embed="rId2"/>
          <a:stretch>
            <a:fillRect/>
          </a:stretch>
        </p:blipFill>
        <p:spPr>
          <a:xfrm>
            <a:off x="359580" y="1244185"/>
            <a:ext cx="11407699" cy="5320423"/>
          </a:xfrm>
          <a:prstGeom prst="rect">
            <a:avLst/>
          </a:prstGeom>
        </p:spPr>
      </p:pic>
    </p:spTree>
    <p:extLst>
      <p:ext uri="{BB962C8B-B14F-4D97-AF65-F5344CB8AC3E}">
        <p14:creationId xmlns:p14="http://schemas.microsoft.com/office/powerpoint/2010/main" val="24580921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B65A9-E37A-8AA1-8DAD-A8C71FBC5DE1}"/>
              </a:ext>
            </a:extLst>
          </p:cNvPr>
          <p:cNvSpPr>
            <a:spLocks noGrp="1"/>
          </p:cNvSpPr>
          <p:nvPr>
            <p:ph type="title"/>
          </p:nvPr>
        </p:nvSpPr>
        <p:spPr>
          <a:xfrm>
            <a:off x="838200" y="365125"/>
            <a:ext cx="11019020" cy="1325563"/>
          </a:xfrm>
        </p:spPr>
        <p:txBody>
          <a:bodyPr/>
          <a:lstStyle/>
          <a:p>
            <a:r>
              <a:rPr lang="en-US" dirty="0"/>
              <a:t>Training Methodologies and Data Requirements</a:t>
            </a:r>
            <a:endParaRPr lang="en-IN" dirty="0"/>
          </a:p>
        </p:txBody>
      </p:sp>
      <p:sp>
        <p:nvSpPr>
          <p:cNvPr id="3" name="Content Placeholder 2">
            <a:extLst>
              <a:ext uri="{FF2B5EF4-FFF2-40B4-BE49-F238E27FC236}">
                <a16:creationId xmlns:a16="http://schemas.microsoft.com/office/drawing/2014/main" id="{F10EAC15-0259-9CB3-6C2E-3D5E88FC8522}"/>
              </a:ext>
            </a:extLst>
          </p:cNvPr>
          <p:cNvSpPr>
            <a:spLocks noGrp="1"/>
          </p:cNvSpPr>
          <p:nvPr>
            <p:ph idx="1"/>
          </p:nvPr>
        </p:nvSpPr>
        <p:spPr>
          <a:xfrm>
            <a:off x="838200" y="1825624"/>
            <a:ext cx="10659256" cy="4380303"/>
          </a:xfrm>
        </p:spPr>
        <p:txBody>
          <a:bodyPr>
            <a:normAutofit lnSpcReduction="10000"/>
          </a:bodyPr>
          <a:lstStyle/>
          <a:p>
            <a:r>
              <a:rPr lang="en-IN" dirty="0"/>
              <a:t>Contrastive learning :</a:t>
            </a:r>
            <a:r>
              <a:rPr lang="en-US" dirty="0"/>
              <a:t>This approach enables the development of a nuanced understanding of the relationship between visual and textual modalities.</a:t>
            </a:r>
            <a:r>
              <a:rPr lang="en-IN" dirty="0"/>
              <a:t> </a:t>
            </a:r>
          </a:p>
          <a:p>
            <a:pPr algn="just"/>
            <a:r>
              <a:rPr lang="en-US" dirty="0"/>
              <a:t>Masked language modeling, adapted from text-only models, involves randomly masking tokens in the input text and training the model to predict these masked tokens.</a:t>
            </a:r>
          </a:p>
          <a:p>
            <a:pPr algn="just"/>
            <a:r>
              <a:rPr lang="en-US" dirty="0"/>
              <a:t> In the multimodal context, this technique is extended to incorporate visual information, allowing the model to leverage visual cues in predicting masked textual content. Additionally, image-text matching tasks encourage the model to develop a holistic understanding of both modalities and their interrelations</a:t>
            </a:r>
            <a:endParaRPr lang="en-IN" dirty="0"/>
          </a:p>
        </p:txBody>
      </p:sp>
    </p:spTree>
    <p:extLst>
      <p:ext uri="{BB962C8B-B14F-4D97-AF65-F5344CB8AC3E}">
        <p14:creationId xmlns:p14="http://schemas.microsoft.com/office/powerpoint/2010/main" val="243214449"/>
      </p:ext>
    </p:extLst>
  </p:cSld>
  <p:clrMapOvr>
    <a:overrideClrMapping bg1="lt1" tx1="dk1" bg2="lt2" tx2="dk2" accent1="accent1" accent2="accent2" accent3="accent3" accent4="accent4" accent5="accent5" accent6="accent6" hlink="hlink" folHlink="folHlink"/>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05FEC-E32D-3932-35E1-7E6579781AA3}"/>
              </a:ext>
            </a:extLst>
          </p:cNvPr>
          <p:cNvSpPr>
            <a:spLocks noGrp="1"/>
          </p:cNvSpPr>
          <p:nvPr>
            <p:ph type="title"/>
          </p:nvPr>
        </p:nvSpPr>
        <p:spPr>
          <a:xfrm>
            <a:off x="838200" y="365125"/>
            <a:ext cx="10884108" cy="1325563"/>
          </a:xfrm>
        </p:spPr>
        <p:txBody>
          <a:bodyPr/>
          <a:lstStyle/>
          <a:p>
            <a:r>
              <a:rPr lang="en-US" dirty="0"/>
              <a:t>Training Methodologies and Data Requirements</a:t>
            </a:r>
            <a:endParaRPr lang="en-IN" dirty="0"/>
          </a:p>
        </p:txBody>
      </p:sp>
      <p:sp>
        <p:nvSpPr>
          <p:cNvPr id="3" name="Content Placeholder 2">
            <a:extLst>
              <a:ext uri="{FF2B5EF4-FFF2-40B4-BE49-F238E27FC236}">
                <a16:creationId xmlns:a16="http://schemas.microsoft.com/office/drawing/2014/main" id="{4A5C9458-C991-89BA-2434-066236609956}"/>
              </a:ext>
            </a:extLst>
          </p:cNvPr>
          <p:cNvSpPr>
            <a:spLocks noGrp="1"/>
          </p:cNvSpPr>
          <p:nvPr>
            <p:ph idx="1"/>
          </p:nvPr>
        </p:nvSpPr>
        <p:spPr>
          <a:xfrm>
            <a:off x="719528" y="1690688"/>
            <a:ext cx="10634272" cy="4486275"/>
          </a:xfrm>
        </p:spPr>
        <p:txBody>
          <a:bodyPr>
            <a:normAutofit fontScale="92500"/>
          </a:bodyPr>
          <a:lstStyle/>
          <a:p>
            <a:pPr algn="just"/>
            <a:r>
              <a:rPr lang="en-US" dirty="0"/>
              <a:t>MLLMs undergo fine-tuning to adapt to specific downstream tasks. This process involves several considerations, including task-specific adaptation tailored to the requirements of the target task. </a:t>
            </a:r>
          </a:p>
          <a:p>
            <a:pPr algn="just"/>
            <a:r>
              <a:rPr lang="en-US" dirty="0"/>
              <a:t>Fine-tuning for visual question answering may involve training the model on question-answer pairs associated with images, while image captioning fine-tuning focuses on generating descriptive text for given images. </a:t>
            </a:r>
          </a:p>
          <a:p>
            <a:pPr algn="just"/>
            <a:r>
              <a:rPr lang="en-US" dirty="0"/>
              <a:t>CLIP model was trained on a dataset of 400 million image-text pairs, while more recent models have utilized even larger datasets. </a:t>
            </a:r>
          </a:p>
          <a:p>
            <a:pPr algn="just"/>
            <a:r>
              <a:rPr lang="en-US" dirty="0"/>
              <a:t>The accuracy of image-text alignments in the training data is paramount. Misaligned pairs can introduce noise into the training process</a:t>
            </a:r>
            <a:endParaRPr lang="en-IN" dirty="0"/>
          </a:p>
        </p:txBody>
      </p:sp>
    </p:spTree>
    <p:extLst>
      <p:ext uri="{BB962C8B-B14F-4D97-AF65-F5344CB8AC3E}">
        <p14:creationId xmlns:p14="http://schemas.microsoft.com/office/powerpoint/2010/main" val="10079846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C5D44-4699-A94B-E181-EA58D2157B5E}"/>
              </a:ext>
            </a:extLst>
          </p:cNvPr>
          <p:cNvSpPr>
            <a:spLocks noGrp="1"/>
          </p:cNvSpPr>
          <p:nvPr>
            <p:ph type="title"/>
          </p:nvPr>
        </p:nvSpPr>
        <p:spPr/>
        <p:txBody>
          <a:bodyPr/>
          <a:lstStyle/>
          <a:p>
            <a:r>
              <a:rPr lang="en-IN" dirty="0"/>
              <a:t>Pretraining on Multimodal Data</a:t>
            </a:r>
          </a:p>
        </p:txBody>
      </p:sp>
      <p:sp>
        <p:nvSpPr>
          <p:cNvPr id="3" name="Content Placeholder 2">
            <a:extLst>
              <a:ext uri="{FF2B5EF4-FFF2-40B4-BE49-F238E27FC236}">
                <a16:creationId xmlns:a16="http://schemas.microsoft.com/office/drawing/2014/main" id="{BC437918-70A1-AF89-F4F8-16AEBF577948}"/>
              </a:ext>
            </a:extLst>
          </p:cNvPr>
          <p:cNvSpPr>
            <a:spLocks noGrp="1"/>
          </p:cNvSpPr>
          <p:nvPr>
            <p:ph idx="1"/>
          </p:nvPr>
        </p:nvSpPr>
        <p:spPr>
          <a:xfrm>
            <a:off x="404422" y="1690687"/>
            <a:ext cx="11383156" cy="4964945"/>
          </a:xfrm>
        </p:spPr>
        <p:txBody>
          <a:bodyPr/>
          <a:lstStyle/>
          <a:p>
            <a:pPr algn="just"/>
            <a:r>
              <a:rPr lang="en-US" dirty="0"/>
              <a:t>MLLMs are often pretrained on large-scale multimodal datasets that include aligned pairs of text and images. This allows the model to learn correlations between words and visual features, a crucial aspect for downstream tasks.</a:t>
            </a:r>
          </a:p>
          <a:p>
            <a:pPr algn="just"/>
            <a:r>
              <a:rPr lang="en-US" dirty="0"/>
              <a:t>Pretraining process typically employs several key strategies:</a:t>
            </a:r>
          </a:p>
          <a:p>
            <a:pPr algn="just"/>
            <a:r>
              <a:rPr lang="en-IN" dirty="0"/>
              <a:t>Contrastive Learning:</a:t>
            </a:r>
            <a:r>
              <a:rPr lang="en-US" dirty="0"/>
              <a:t> distinguish between related and unrelated image-text pairs</a:t>
            </a:r>
          </a:p>
          <a:p>
            <a:pPr algn="just"/>
            <a:r>
              <a:rPr lang="en-IN" dirty="0"/>
              <a:t>Masked Language </a:t>
            </a:r>
            <a:r>
              <a:rPr lang="en-IN" dirty="0" err="1"/>
              <a:t>Modeling</a:t>
            </a:r>
            <a:r>
              <a:rPr lang="en-IN" dirty="0"/>
              <a:t> (MLM): </a:t>
            </a:r>
            <a:r>
              <a:rPr lang="en-US" dirty="0"/>
              <a:t>masking tokens in the input text and training the model to predict these masked tokens. this technique is extended to incorporate visual information</a:t>
            </a:r>
          </a:p>
          <a:p>
            <a:endParaRPr lang="en-IN" dirty="0"/>
          </a:p>
        </p:txBody>
      </p:sp>
    </p:spTree>
    <p:extLst>
      <p:ext uri="{BB962C8B-B14F-4D97-AF65-F5344CB8AC3E}">
        <p14:creationId xmlns:p14="http://schemas.microsoft.com/office/powerpoint/2010/main" val="34209392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E178D-A1E8-8344-21D3-97B9171D2C69}"/>
              </a:ext>
            </a:extLst>
          </p:cNvPr>
          <p:cNvSpPr>
            <a:spLocks noGrp="1"/>
          </p:cNvSpPr>
          <p:nvPr>
            <p:ph type="title"/>
          </p:nvPr>
        </p:nvSpPr>
        <p:spPr/>
        <p:txBody>
          <a:bodyPr/>
          <a:lstStyle/>
          <a:p>
            <a:r>
              <a:rPr lang="en-IN" dirty="0"/>
              <a:t>Pretraining on Multimodal Data</a:t>
            </a:r>
          </a:p>
        </p:txBody>
      </p:sp>
      <p:sp>
        <p:nvSpPr>
          <p:cNvPr id="3" name="Content Placeholder 2">
            <a:extLst>
              <a:ext uri="{FF2B5EF4-FFF2-40B4-BE49-F238E27FC236}">
                <a16:creationId xmlns:a16="http://schemas.microsoft.com/office/drawing/2014/main" id="{4E236A87-039E-7268-E326-3AD99DE94C79}"/>
              </a:ext>
            </a:extLst>
          </p:cNvPr>
          <p:cNvSpPr>
            <a:spLocks noGrp="1"/>
          </p:cNvSpPr>
          <p:nvPr>
            <p:ph idx="1"/>
          </p:nvPr>
        </p:nvSpPr>
        <p:spPr/>
        <p:txBody>
          <a:bodyPr/>
          <a:lstStyle/>
          <a:p>
            <a:pPr algn="just"/>
            <a:r>
              <a:rPr lang="en-IN" dirty="0"/>
              <a:t>Masked Image </a:t>
            </a:r>
            <a:r>
              <a:rPr lang="en-IN" dirty="0" err="1"/>
              <a:t>Modeling</a:t>
            </a:r>
            <a:r>
              <a:rPr lang="en-IN" dirty="0"/>
              <a:t> (MIM):</a:t>
            </a:r>
            <a:r>
              <a:rPr lang="en-US" dirty="0"/>
              <a:t>masking portions of the input image and training the model to reconstruct or predict the masked regions.</a:t>
            </a:r>
          </a:p>
          <a:p>
            <a:pPr algn="just"/>
            <a:r>
              <a:rPr lang="en-IN" dirty="0"/>
              <a:t>Image-Text Matching: </a:t>
            </a:r>
            <a:r>
              <a:rPr lang="en-US" dirty="0"/>
              <a:t>model is trained to determine whether a given image-text pair</a:t>
            </a:r>
          </a:p>
          <a:p>
            <a:pPr algn="just"/>
            <a:r>
              <a:rPr lang="en-IN" dirty="0"/>
              <a:t>Visual Grounding:</a:t>
            </a:r>
            <a:r>
              <a:rPr lang="en-US" dirty="0"/>
              <a:t>training the model to locate specific objects or regions in an image based on textual descriptions.</a:t>
            </a:r>
          </a:p>
          <a:p>
            <a:pPr algn="just"/>
            <a:r>
              <a:rPr lang="en-IN" dirty="0"/>
              <a:t>Datasets: Conceptual Captions, LAION-5B, or JFT-300M</a:t>
            </a:r>
            <a:endParaRPr lang="en-US" dirty="0"/>
          </a:p>
          <a:p>
            <a:pPr algn="just"/>
            <a:endParaRPr lang="en-IN" dirty="0"/>
          </a:p>
        </p:txBody>
      </p:sp>
    </p:spTree>
    <p:extLst>
      <p:ext uri="{BB962C8B-B14F-4D97-AF65-F5344CB8AC3E}">
        <p14:creationId xmlns:p14="http://schemas.microsoft.com/office/powerpoint/2010/main" val="1201796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B643E-7390-FF6D-475B-AE24BD51E9D8}"/>
              </a:ext>
            </a:extLst>
          </p:cNvPr>
          <p:cNvSpPr>
            <a:spLocks noGrp="1"/>
          </p:cNvSpPr>
          <p:nvPr>
            <p:ph type="title"/>
          </p:nvPr>
        </p:nvSpPr>
        <p:spPr>
          <a:xfrm>
            <a:off x="687673" y="214183"/>
            <a:ext cx="10515600" cy="1325563"/>
          </a:xfrm>
        </p:spPr>
        <p:txBody>
          <a:bodyPr/>
          <a:lstStyle/>
          <a:p>
            <a:r>
              <a:rPr lang="en-IN" dirty="0"/>
              <a:t>Contrastive Learning (CLIP, ALIGN)</a:t>
            </a:r>
          </a:p>
        </p:txBody>
      </p:sp>
      <p:sp>
        <p:nvSpPr>
          <p:cNvPr id="3" name="Content Placeholder 2">
            <a:extLst>
              <a:ext uri="{FF2B5EF4-FFF2-40B4-BE49-F238E27FC236}">
                <a16:creationId xmlns:a16="http://schemas.microsoft.com/office/drawing/2014/main" id="{8EA76B22-E97E-4384-1410-B4C94D77D20C}"/>
              </a:ext>
            </a:extLst>
          </p:cNvPr>
          <p:cNvSpPr>
            <a:spLocks noGrp="1"/>
          </p:cNvSpPr>
          <p:nvPr>
            <p:ph idx="1"/>
          </p:nvPr>
        </p:nvSpPr>
        <p:spPr>
          <a:xfrm>
            <a:off x="268573" y="1539746"/>
            <a:ext cx="11353800" cy="4874978"/>
          </a:xfrm>
        </p:spPr>
        <p:txBody>
          <a:bodyPr>
            <a:normAutofit/>
          </a:bodyPr>
          <a:lstStyle/>
          <a:p>
            <a:r>
              <a:rPr lang="en-US" dirty="0"/>
              <a:t>Basic Concept: Contrastive learning aligns matching and non-matching text–image pairs to build a shared embedding space for effective cross-modal retrieval.</a:t>
            </a:r>
          </a:p>
          <a:p>
            <a:r>
              <a:rPr lang="en-IN" dirty="0"/>
              <a:t>Hallucination Augmented Contrastive Learning: Generates synthetic data to strengthen contrastive learning, improving robustness and zero-shot generalization. </a:t>
            </a:r>
          </a:p>
          <a:p>
            <a:r>
              <a:rPr lang="en-IN" dirty="0" err="1"/>
              <a:t>Img</a:t>
            </a:r>
            <a:r>
              <a:rPr lang="en-IN" dirty="0"/>
              <a:t>-Diff: Contrastive Data Synthesis: Creates new multimodal samples (e.g., </a:t>
            </a:r>
            <a:r>
              <a:rPr lang="en-IN" dirty="0" err="1"/>
              <a:t>Img</a:t>
            </a:r>
            <a:r>
              <a:rPr lang="en-IN" dirty="0"/>
              <a:t>-Diff dataset) to enhance data quality for high-performance</a:t>
            </a:r>
          </a:p>
          <a:p>
            <a:r>
              <a:rPr lang="en-IN" dirty="0"/>
              <a:t> MLLM training. Integration with Other Techniques: Combines contrastive learning with tasks like masked language </a:t>
            </a:r>
            <a:r>
              <a:rPr lang="en-IN" dirty="0" err="1"/>
              <a:t>modeling</a:t>
            </a:r>
            <a:r>
              <a:rPr lang="en-IN" dirty="0"/>
              <a:t> and visual question answering for stronger multimodal understanding.</a:t>
            </a:r>
          </a:p>
        </p:txBody>
      </p:sp>
    </p:spTree>
    <p:extLst>
      <p:ext uri="{BB962C8B-B14F-4D97-AF65-F5344CB8AC3E}">
        <p14:creationId xmlns:p14="http://schemas.microsoft.com/office/powerpoint/2010/main" val="28006090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1FD27-98BB-E331-0345-48CBB6C5B6DB}"/>
              </a:ext>
            </a:extLst>
          </p:cNvPr>
          <p:cNvSpPr>
            <a:spLocks noGrp="1"/>
          </p:cNvSpPr>
          <p:nvPr>
            <p:ph type="title"/>
          </p:nvPr>
        </p:nvSpPr>
        <p:spPr/>
        <p:txBody>
          <a:bodyPr/>
          <a:lstStyle/>
          <a:p>
            <a:r>
              <a:rPr lang="en-IN" dirty="0"/>
              <a:t>Contrastive Learning (CLIP, ALIGN)</a:t>
            </a:r>
          </a:p>
        </p:txBody>
      </p:sp>
      <p:sp>
        <p:nvSpPr>
          <p:cNvPr id="3" name="Content Placeholder 2">
            <a:extLst>
              <a:ext uri="{FF2B5EF4-FFF2-40B4-BE49-F238E27FC236}">
                <a16:creationId xmlns:a16="http://schemas.microsoft.com/office/drawing/2014/main" id="{A1E018F6-4778-230C-9736-FA1879AA484E}"/>
              </a:ext>
            </a:extLst>
          </p:cNvPr>
          <p:cNvSpPr>
            <a:spLocks noGrp="1"/>
          </p:cNvSpPr>
          <p:nvPr>
            <p:ph idx="1"/>
          </p:nvPr>
        </p:nvSpPr>
        <p:spPr>
          <a:xfrm>
            <a:off x="494675" y="1690688"/>
            <a:ext cx="11182663" cy="4486275"/>
          </a:xfrm>
        </p:spPr>
        <p:txBody>
          <a:bodyPr/>
          <a:lstStyle/>
          <a:p>
            <a:pPr algn="just"/>
            <a:r>
              <a:rPr lang="en-US" dirty="0"/>
              <a:t>CLIP, developed by OpenAI, uses contrastive learning to link images with matching text and separate mismatched pairs, enabling strong zero-shot recognition without task-specific training. </a:t>
            </a:r>
          </a:p>
          <a:p>
            <a:pPr algn="just"/>
            <a:r>
              <a:rPr lang="en-US" dirty="0"/>
              <a:t>ALIGN, by Google, learns joint image–text embeddings from large, noisy datasets, maintaining scalability and noise robustness while achieving powerful zero-shot results. Both models showcase contrastive learning’s ability to unify vision and language through shared embedding spaces.</a:t>
            </a:r>
            <a:endParaRPr lang="en-IN" dirty="0"/>
          </a:p>
        </p:txBody>
      </p:sp>
    </p:spTree>
    <p:extLst>
      <p:ext uri="{BB962C8B-B14F-4D97-AF65-F5344CB8AC3E}">
        <p14:creationId xmlns:p14="http://schemas.microsoft.com/office/powerpoint/2010/main" val="31509712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3184D-90C1-6CA7-C125-8E8300257957}"/>
              </a:ext>
            </a:extLst>
          </p:cNvPr>
          <p:cNvSpPr>
            <a:spLocks noGrp="1"/>
          </p:cNvSpPr>
          <p:nvPr>
            <p:ph type="title"/>
          </p:nvPr>
        </p:nvSpPr>
        <p:spPr>
          <a:xfrm>
            <a:off x="838199" y="365125"/>
            <a:ext cx="10779177" cy="1325563"/>
          </a:xfrm>
        </p:spPr>
        <p:txBody>
          <a:bodyPr>
            <a:normAutofit/>
          </a:bodyPr>
          <a:lstStyle/>
          <a:p>
            <a:r>
              <a:rPr lang="en-US" sz="3400" dirty="0"/>
              <a:t>Masked Language Modeling (MLM) in Multimodal Large Language Model</a:t>
            </a:r>
            <a:endParaRPr lang="en-IN" sz="3400" dirty="0"/>
          </a:p>
        </p:txBody>
      </p:sp>
      <p:sp>
        <p:nvSpPr>
          <p:cNvPr id="3" name="Content Placeholder 2">
            <a:extLst>
              <a:ext uri="{FF2B5EF4-FFF2-40B4-BE49-F238E27FC236}">
                <a16:creationId xmlns:a16="http://schemas.microsoft.com/office/drawing/2014/main" id="{A20A996F-5241-512A-ED09-E9B095DB4F93}"/>
              </a:ext>
            </a:extLst>
          </p:cNvPr>
          <p:cNvSpPr>
            <a:spLocks noGrp="1"/>
          </p:cNvSpPr>
          <p:nvPr>
            <p:ph idx="1"/>
          </p:nvPr>
        </p:nvSpPr>
        <p:spPr>
          <a:xfrm>
            <a:off x="574623" y="1690687"/>
            <a:ext cx="11402517" cy="4802187"/>
          </a:xfrm>
        </p:spPr>
        <p:txBody>
          <a:bodyPr>
            <a:normAutofit lnSpcReduction="10000"/>
          </a:bodyPr>
          <a:lstStyle/>
          <a:p>
            <a:pPr algn="just"/>
            <a:r>
              <a:rPr lang="en-US" dirty="0"/>
              <a:t>Masked Language Modeling (MLM) trains models to predict missing words from context, and in Multimodal Large Language Models (MLLMs), it extends to predicting both masked words and image regions for joint visual–text understanding. </a:t>
            </a:r>
          </a:p>
          <a:p>
            <a:pPr algn="just"/>
            <a:r>
              <a:rPr lang="en-US" dirty="0"/>
              <a:t>MLLMs using MLM power tasks like object-centric robotic manipulation, where models infer actions from combined text and vision.</a:t>
            </a:r>
          </a:p>
          <a:p>
            <a:pPr algn="just"/>
            <a:r>
              <a:rPr lang="en-US" dirty="0"/>
              <a:t> Training typically blends contrastive learning, image–text matching, and MLM, enhancing cross-modal alignment for tasks such as image captioning and visual question answering.</a:t>
            </a:r>
          </a:p>
          <a:p>
            <a:pPr algn="just"/>
            <a:r>
              <a:rPr lang="en-US" dirty="0"/>
              <a:t> Current research focuses on improving efficiency, architectural design, and dataset diversity to create more capable and resource-efficient multimodal systems.</a:t>
            </a:r>
            <a:endParaRPr lang="en-IN" dirty="0"/>
          </a:p>
        </p:txBody>
      </p:sp>
    </p:spTree>
    <p:extLst>
      <p:ext uri="{BB962C8B-B14F-4D97-AF65-F5344CB8AC3E}">
        <p14:creationId xmlns:p14="http://schemas.microsoft.com/office/powerpoint/2010/main" val="2801789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F8C67-ED89-8D2F-F0CE-7AD71907A78D}"/>
              </a:ext>
            </a:extLst>
          </p:cNvPr>
          <p:cNvSpPr>
            <a:spLocks noGrp="1"/>
          </p:cNvSpPr>
          <p:nvPr>
            <p:ph type="title"/>
          </p:nvPr>
        </p:nvSpPr>
        <p:spPr/>
        <p:txBody>
          <a:bodyPr>
            <a:normAutofit/>
          </a:bodyPr>
          <a:lstStyle/>
          <a:p>
            <a:r>
              <a:rPr lang="en-US" sz="3400" b="1" dirty="0"/>
              <a:t>Visual Question Answering (VQA)</a:t>
            </a:r>
            <a:endParaRPr lang="en-IN" sz="3400" dirty="0"/>
          </a:p>
        </p:txBody>
      </p:sp>
      <p:sp>
        <p:nvSpPr>
          <p:cNvPr id="3" name="Content Placeholder 2">
            <a:extLst>
              <a:ext uri="{FF2B5EF4-FFF2-40B4-BE49-F238E27FC236}">
                <a16:creationId xmlns:a16="http://schemas.microsoft.com/office/drawing/2014/main" id="{76DB7F79-F8BE-943B-F0D4-492F236F1DEF}"/>
              </a:ext>
            </a:extLst>
          </p:cNvPr>
          <p:cNvSpPr>
            <a:spLocks noGrp="1"/>
          </p:cNvSpPr>
          <p:nvPr>
            <p:ph idx="1"/>
          </p:nvPr>
        </p:nvSpPr>
        <p:spPr/>
        <p:txBody>
          <a:bodyPr>
            <a:normAutofit fontScale="92500" lnSpcReduction="10000"/>
          </a:bodyPr>
          <a:lstStyle/>
          <a:p>
            <a:pPr algn="just"/>
            <a:r>
              <a:rPr lang="en-US" dirty="0"/>
              <a:t>Visual Question Answering (VQA) is a key multimodal task where models learn to interpret and reason over paired images and questions using cross-attention mechanisms for effective visual–text alignment. </a:t>
            </a:r>
          </a:p>
          <a:p>
            <a:pPr algn="just"/>
            <a:r>
              <a:rPr lang="en-US" dirty="0"/>
              <a:t>Advanced VQA systems, especially in domains like medical imaging, integrate unimodal and multimodal contrastive losses and retrieval-augmented methods to capture richer context. </a:t>
            </a:r>
          </a:p>
          <a:p>
            <a:pPr algn="just"/>
            <a:r>
              <a:rPr lang="en-US" dirty="0"/>
              <a:t>Despite progress, challenges persist due to limited domain-specific multimodal data, prompting the use of data augmentation and transfer learning to enhance robustness.</a:t>
            </a:r>
          </a:p>
          <a:p>
            <a:pPr algn="just"/>
            <a:r>
              <a:rPr lang="en-US" dirty="0"/>
              <a:t> Current research aims to refine pre-training techniques and expand dataset diversity for greater accuracy and adaptability across applications.</a:t>
            </a:r>
            <a:endParaRPr lang="en-IN" dirty="0"/>
          </a:p>
        </p:txBody>
      </p:sp>
    </p:spTree>
    <p:extLst>
      <p:ext uri="{BB962C8B-B14F-4D97-AF65-F5344CB8AC3E}">
        <p14:creationId xmlns:p14="http://schemas.microsoft.com/office/powerpoint/2010/main" val="190392236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D2E74-7EF9-720F-F970-0CA75314D31F}"/>
              </a:ext>
            </a:extLst>
          </p:cNvPr>
          <p:cNvSpPr>
            <a:spLocks noGrp="1"/>
          </p:cNvSpPr>
          <p:nvPr>
            <p:ph type="title"/>
          </p:nvPr>
        </p:nvSpPr>
        <p:spPr/>
        <p:txBody>
          <a:bodyPr/>
          <a:lstStyle/>
          <a:p>
            <a:r>
              <a:rPr lang="en-IN" dirty="0"/>
              <a:t>Vision-and-Language Pretraining (VLP)</a:t>
            </a:r>
          </a:p>
        </p:txBody>
      </p:sp>
      <p:sp>
        <p:nvSpPr>
          <p:cNvPr id="3" name="Content Placeholder 2">
            <a:extLst>
              <a:ext uri="{FF2B5EF4-FFF2-40B4-BE49-F238E27FC236}">
                <a16:creationId xmlns:a16="http://schemas.microsoft.com/office/drawing/2014/main" id="{B1C36815-556C-A594-A814-7410779C514A}"/>
              </a:ext>
            </a:extLst>
          </p:cNvPr>
          <p:cNvSpPr>
            <a:spLocks noGrp="1"/>
          </p:cNvSpPr>
          <p:nvPr>
            <p:ph idx="1"/>
          </p:nvPr>
        </p:nvSpPr>
        <p:spPr/>
        <p:txBody>
          <a:bodyPr/>
          <a:lstStyle/>
          <a:p>
            <a:pPr algn="just"/>
            <a:r>
              <a:rPr lang="en-US" sz="2600" dirty="0"/>
              <a:t>Models like UNITER, ViLBERT, and OSCAR are prime examples of this multitask approach, which enhances multimodal reasoning by integrating cross-modal fusions within a dual-encoder architecture.</a:t>
            </a:r>
          </a:p>
          <a:p>
            <a:pPr algn="just"/>
            <a:r>
              <a:rPr lang="en-US" sz="2600" dirty="0"/>
              <a:t>VLP strategies have addressed challenges related to heterogeneity in federated learning environments, particularly in specialized domains such as biomedical applications. These improvements have been instrumental in refining the flexibility and adaptability of VLP models, making them more efficient in handling diverse datasets and tasks</a:t>
            </a:r>
            <a:endParaRPr lang="en-IN" sz="2600" dirty="0"/>
          </a:p>
        </p:txBody>
      </p:sp>
    </p:spTree>
    <p:extLst>
      <p:ext uri="{BB962C8B-B14F-4D97-AF65-F5344CB8AC3E}">
        <p14:creationId xmlns:p14="http://schemas.microsoft.com/office/powerpoint/2010/main" val="8855773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C2EFB-0F81-690B-7EBE-B68BC96AFDE0}"/>
              </a:ext>
            </a:extLst>
          </p:cNvPr>
          <p:cNvSpPr>
            <a:spLocks noGrp="1"/>
          </p:cNvSpPr>
          <p:nvPr>
            <p:ph type="title"/>
          </p:nvPr>
        </p:nvSpPr>
        <p:spPr>
          <a:xfrm>
            <a:off x="556510" y="142407"/>
            <a:ext cx="10515600" cy="1325563"/>
          </a:xfrm>
        </p:spPr>
        <p:txBody>
          <a:bodyPr/>
          <a:lstStyle/>
          <a:p>
            <a:r>
              <a:rPr lang="en-IN" dirty="0"/>
              <a:t>Fine-Tuning for Specific Tasks</a:t>
            </a:r>
          </a:p>
        </p:txBody>
      </p:sp>
      <p:sp>
        <p:nvSpPr>
          <p:cNvPr id="3" name="Content Placeholder 2">
            <a:extLst>
              <a:ext uri="{FF2B5EF4-FFF2-40B4-BE49-F238E27FC236}">
                <a16:creationId xmlns:a16="http://schemas.microsoft.com/office/drawing/2014/main" id="{7CD03062-B9AE-AAD4-0CF7-E5F7A9B69C98}"/>
              </a:ext>
            </a:extLst>
          </p:cNvPr>
          <p:cNvSpPr>
            <a:spLocks noGrp="1"/>
          </p:cNvSpPr>
          <p:nvPr>
            <p:ph idx="1"/>
          </p:nvPr>
        </p:nvSpPr>
        <p:spPr>
          <a:xfrm>
            <a:off x="344774" y="1454046"/>
            <a:ext cx="11587396" cy="5261547"/>
          </a:xfrm>
        </p:spPr>
        <p:txBody>
          <a:bodyPr>
            <a:normAutofit fontScale="92500" lnSpcReduction="10000"/>
          </a:bodyPr>
          <a:lstStyle/>
          <a:p>
            <a:r>
              <a:rPr lang="en-IN" dirty="0"/>
              <a:t>After pretraining ,</a:t>
            </a:r>
            <a:r>
              <a:rPr lang="en-US" dirty="0"/>
              <a:t>models may be fine-tuned on datasets for image captioning, visual question answering, or cross-modal retrieval.</a:t>
            </a:r>
          </a:p>
          <a:p>
            <a:r>
              <a:rPr lang="en-US" dirty="0"/>
              <a:t>This process ensures that the model can transfer its learned multimodal representations to practical applications.</a:t>
            </a:r>
          </a:p>
          <a:p>
            <a:r>
              <a:rPr lang="en-IN" dirty="0"/>
              <a:t>Task-Specific Adaptation:</a:t>
            </a:r>
          </a:p>
          <a:p>
            <a:r>
              <a:rPr lang="en-IN" dirty="0"/>
              <a:t>Transfer Learning: </a:t>
            </a:r>
            <a:r>
              <a:rPr lang="en-US" dirty="0"/>
              <a:t>fine-tuning for visual question answering (VQA) involves training the model on question-answer pairs associated with images, while image captioning fine-tuning focuses on generating descriptive text for given images.</a:t>
            </a:r>
          </a:p>
          <a:p>
            <a:r>
              <a:rPr lang="en-IN" dirty="0"/>
              <a:t>Transfer Learning</a:t>
            </a:r>
          </a:p>
          <a:p>
            <a:r>
              <a:rPr lang="en-IN" dirty="0"/>
              <a:t>Architectural Modifications</a:t>
            </a:r>
          </a:p>
          <a:p>
            <a:r>
              <a:rPr lang="en-IN" dirty="0"/>
              <a:t>Hyperparameter Optimization</a:t>
            </a:r>
          </a:p>
          <a:p>
            <a:r>
              <a:rPr lang="en-IN" dirty="0"/>
              <a:t>Few-Shot and Zero-Shot Learning</a:t>
            </a:r>
          </a:p>
        </p:txBody>
      </p:sp>
    </p:spTree>
    <p:extLst>
      <p:ext uri="{BB962C8B-B14F-4D97-AF65-F5344CB8AC3E}">
        <p14:creationId xmlns:p14="http://schemas.microsoft.com/office/powerpoint/2010/main" val="8942586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D021B-604A-2FF3-2557-B21D0F56FB26}"/>
              </a:ext>
            </a:extLst>
          </p:cNvPr>
          <p:cNvSpPr>
            <a:spLocks noGrp="1"/>
          </p:cNvSpPr>
          <p:nvPr>
            <p:ph type="title"/>
          </p:nvPr>
        </p:nvSpPr>
        <p:spPr>
          <a:xfrm>
            <a:off x="583367" y="140273"/>
            <a:ext cx="9879767" cy="939020"/>
          </a:xfrm>
        </p:spPr>
        <p:txBody>
          <a:bodyPr/>
          <a:lstStyle/>
          <a:p>
            <a:r>
              <a:rPr lang="en-IN" dirty="0"/>
              <a:t>Fine-Tuning for Specific Tasks</a:t>
            </a:r>
          </a:p>
        </p:txBody>
      </p:sp>
      <p:sp>
        <p:nvSpPr>
          <p:cNvPr id="3" name="Content Placeholder 2">
            <a:extLst>
              <a:ext uri="{FF2B5EF4-FFF2-40B4-BE49-F238E27FC236}">
                <a16:creationId xmlns:a16="http://schemas.microsoft.com/office/drawing/2014/main" id="{FA3F736F-9A08-C336-8D57-6D10CE37D1D1}"/>
              </a:ext>
            </a:extLst>
          </p:cNvPr>
          <p:cNvSpPr>
            <a:spLocks noGrp="1"/>
          </p:cNvSpPr>
          <p:nvPr>
            <p:ph idx="1"/>
          </p:nvPr>
        </p:nvSpPr>
        <p:spPr>
          <a:xfrm>
            <a:off x="224852" y="944380"/>
            <a:ext cx="11542427" cy="5913620"/>
          </a:xfrm>
        </p:spPr>
        <p:txBody>
          <a:bodyPr/>
          <a:lstStyle/>
          <a:p>
            <a:pPr algn="just"/>
            <a:r>
              <a:rPr lang="en-US" dirty="0"/>
              <a:t>Continual Learning: Some fine-tuning approaches focus on enabling the model to learn new tasks without forgetting previously learned information, a challenge known as catastrophic forgetting.</a:t>
            </a:r>
          </a:p>
          <a:p>
            <a:pPr algn="just"/>
            <a:r>
              <a:rPr lang="en-US" dirty="0"/>
              <a:t>Multi-Task Fine-Tuning: In some cases, models are fine-tuned on multiple related tasks simultaneously, which can lead to improved performance across all tasks due to shared learning.</a:t>
            </a:r>
          </a:p>
          <a:p>
            <a:pPr algn="just"/>
            <a:r>
              <a:rPr lang="en-US" dirty="0"/>
              <a:t>Domain Adaptation: When the target task involves a domain significantly different from the pretraining data, fine-tuning may include techniques to bridge this domain gap, such as gradual fine-tuning or domain-adversarial training</a:t>
            </a:r>
            <a:endParaRPr lang="en-IN" dirty="0"/>
          </a:p>
        </p:txBody>
      </p:sp>
    </p:spTree>
    <p:extLst>
      <p:ext uri="{BB962C8B-B14F-4D97-AF65-F5344CB8AC3E}">
        <p14:creationId xmlns:p14="http://schemas.microsoft.com/office/powerpoint/2010/main" val="22938657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1A096-9357-810E-758C-541D8859537C}"/>
              </a:ext>
            </a:extLst>
          </p:cNvPr>
          <p:cNvSpPr>
            <a:spLocks noGrp="1"/>
          </p:cNvSpPr>
          <p:nvPr>
            <p:ph type="title"/>
          </p:nvPr>
        </p:nvSpPr>
        <p:spPr/>
        <p:txBody>
          <a:bodyPr/>
          <a:lstStyle/>
          <a:p>
            <a:r>
              <a:rPr lang="en-IN" dirty="0"/>
              <a:t>Fine-Tuning for Specific Tasks</a:t>
            </a:r>
          </a:p>
        </p:txBody>
      </p:sp>
      <p:sp>
        <p:nvSpPr>
          <p:cNvPr id="3" name="Content Placeholder 2">
            <a:extLst>
              <a:ext uri="{FF2B5EF4-FFF2-40B4-BE49-F238E27FC236}">
                <a16:creationId xmlns:a16="http://schemas.microsoft.com/office/drawing/2014/main" id="{A5282122-2F49-2897-09BB-F7A11756A8AB}"/>
              </a:ext>
            </a:extLst>
          </p:cNvPr>
          <p:cNvSpPr>
            <a:spLocks noGrp="1"/>
          </p:cNvSpPr>
          <p:nvPr>
            <p:ph idx="1"/>
          </p:nvPr>
        </p:nvSpPr>
        <p:spPr>
          <a:xfrm>
            <a:off x="489054" y="1690688"/>
            <a:ext cx="11213892" cy="4859988"/>
          </a:xfrm>
        </p:spPr>
        <p:txBody>
          <a:bodyPr>
            <a:normAutofit/>
          </a:bodyPr>
          <a:lstStyle/>
          <a:p>
            <a:pPr algn="just"/>
            <a:r>
              <a:rPr lang="en-US" dirty="0"/>
              <a:t>Image captioning, datasets like the Microsoft Common Objects in Context (MS COCO) are extensively used. MS COCO comprises over 330,000 images, each annotated with multiple captions, offering a rich resource for training models to generate descriptive textual representations of visual content.</a:t>
            </a:r>
          </a:p>
          <a:p>
            <a:pPr algn="just"/>
            <a:r>
              <a:rPr lang="en-US" dirty="0"/>
              <a:t>VQA 2.0 dataset is a prominent resource. It contains over 1.1 million questions based on over 200,000 images, with each question designed to test the model’s ability to comprehend and reason about visual information in conjunction with textual queries.</a:t>
            </a:r>
          </a:p>
          <a:p>
            <a:pPr algn="just"/>
            <a:r>
              <a:rPr lang="en-US" dirty="0"/>
              <a:t>task-specific datasets are foundational to the fine-tuning of MLLMs</a:t>
            </a:r>
            <a:endParaRPr lang="en-IN" dirty="0"/>
          </a:p>
        </p:txBody>
      </p:sp>
    </p:spTree>
    <p:extLst>
      <p:ext uri="{BB962C8B-B14F-4D97-AF65-F5344CB8AC3E}">
        <p14:creationId xmlns:p14="http://schemas.microsoft.com/office/powerpoint/2010/main" val="222301908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E69A2-E8B8-B6E3-505E-58436EAAAEF1}"/>
              </a:ext>
            </a:extLst>
          </p:cNvPr>
          <p:cNvSpPr>
            <a:spLocks noGrp="1"/>
          </p:cNvSpPr>
          <p:nvPr>
            <p:ph type="title"/>
          </p:nvPr>
        </p:nvSpPr>
        <p:spPr/>
        <p:txBody>
          <a:bodyPr/>
          <a:lstStyle/>
          <a:p>
            <a:r>
              <a:rPr lang="en-IN" dirty="0"/>
              <a:t>Challenges in Data Curation:</a:t>
            </a:r>
          </a:p>
        </p:txBody>
      </p:sp>
      <p:sp>
        <p:nvSpPr>
          <p:cNvPr id="3" name="Content Placeholder 2">
            <a:extLst>
              <a:ext uri="{FF2B5EF4-FFF2-40B4-BE49-F238E27FC236}">
                <a16:creationId xmlns:a16="http://schemas.microsoft.com/office/drawing/2014/main" id="{F7F5E22F-3F30-A3B4-4CAF-7844EA187F5C}"/>
              </a:ext>
            </a:extLst>
          </p:cNvPr>
          <p:cNvSpPr>
            <a:spLocks noGrp="1"/>
          </p:cNvSpPr>
          <p:nvPr>
            <p:ph idx="1"/>
          </p:nvPr>
        </p:nvSpPr>
        <p:spPr>
          <a:xfrm>
            <a:off x="584617" y="1454046"/>
            <a:ext cx="11407514" cy="5038829"/>
          </a:xfrm>
        </p:spPr>
        <p:txBody>
          <a:bodyPr>
            <a:normAutofit/>
          </a:bodyPr>
          <a:lstStyle/>
          <a:p>
            <a:r>
              <a:rPr lang="en-US" dirty="0"/>
              <a:t>Resource Intensity: Collecting and processing billions of image-text pairs requires substantial computational and human resources. </a:t>
            </a:r>
          </a:p>
          <a:p>
            <a:r>
              <a:rPr lang="en-US" dirty="0"/>
              <a:t>Annotation Complexity: For tasks requiring fine-grained annotations, such as object detection or segmentation, the annotation process becomes increasingly complex and time-consuming. </a:t>
            </a:r>
          </a:p>
          <a:p>
            <a:r>
              <a:rPr lang="en-US" dirty="0"/>
              <a:t> Quality Control: Maintaining consistent quality across a large-scale dataset is challenging, often requiring multiple rounds of validation and refinement. </a:t>
            </a:r>
          </a:p>
          <a:p>
            <a:r>
              <a:rPr lang="en-US" dirty="0"/>
              <a:t>Domain Specificity: For certain applications, general web-scraped datasets may not suffice, necessitating the creation of domain-specific datasets, which can be particularly resource-intensive. </a:t>
            </a:r>
            <a:endParaRPr lang="en-IN" dirty="0"/>
          </a:p>
        </p:txBody>
      </p:sp>
    </p:spTree>
    <p:extLst>
      <p:ext uri="{BB962C8B-B14F-4D97-AF65-F5344CB8AC3E}">
        <p14:creationId xmlns:p14="http://schemas.microsoft.com/office/powerpoint/2010/main" val="293948999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D2325-1FE3-73EF-AA36-5A5A1E5A333A}"/>
              </a:ext>
            </a:extLst>
          </p:cNvPr>
          <p:cNvSpPr>
            <a:spLocks noGrp="1"/>
          </p:cNvSpPr>
          <p:nvPr>
            <p:ph type="title"/>
          </p:nvPr>
        </p:nvSpPr>
        <p:spPr/>
        <p:txBody>
          <a:bodyPr/>
          <a:lstStyle/>
          <a:p>
            <a:r>
              <a:rPr lang="en-IN" dirty="0"/>
              <a:t>Challenges of Data Alignment</a:t>
            </a:r>
          </a:p>
        </p:txBody>
      </p:sp>
      <p:sp>
        <p:nvSpPr>
          <p:cNvPr id="8" name="Rectangle 5">
            <a:extLst>
              <a:ext uri="{FF2B5EF4-FFF2-40B4-BE49-F238E27FC236}">
                <a16:creationId xmlns:a16="http://schemas.microsoft.com/office/drawing/2014/main" id="{D2B1652F-FFDB-6019-DB1D-4D69E6089CF6}"/>
              </a:ext>
            </a:extLst>
          </p:cNvPr>
          <p:cNvSpPr>
            <a:spLocks noGrp="1" noChangeArrowheads="1"/>
          </p:cNvSpPr>
          <p:nvPr>
            <p:ph idx="1"/>
          </p:nvPr>
        </p:nvSpPr>
        <p:spPr bwMode="auto">
          <a:xfrm>
            <a:off x="547516" y="1580445"/>
            <a:ext cx="10515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25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Semantic Coherence:</a:t>
            </a:r>
            <a:r>
              <a:rPr kumimoji="0" lang="en-US" altLang="en-US" sz="1800" b="0" i="0" u="none" strike="noStrike" cap="none" normalizeH="0" baseline="0" dirty="0">
                <a:ln>
                  <a:noFill/>
                </a:ln>
                <a:solidFill>
                  <a:schemeClr val="tx1"/>
                </a:solidFill>
                <a:effectLst/>
                <a:latin typeface="Arial" panose="020B0604020202020204" pitchFamily="34" charset="0"/>
              </a:rPr>
              <a:t> Text must match the image meaning to prevent false learning.</a:t>
            </a:r>
          </a:p>
          <a:p>
            <a:pPr eaLnBrk="0" fontAlgn="base" hangingPunct="0">
              <a:lnSpc>
                <a:spcPct val="25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Contextual Relevance:</a:t>
            </a:r>
            <a:r>
              <a:rPr kumimoji="0" lang="en-US" altLang="en-US" sz="1800" b="0" i="0" u="none" strike="noStrike" cap="none" normalizeH="0" baseline="0" dirty="0">
                <a:ln>
                  <a:noFill/>
                </a:ln>
                <a:solidFill>
                  <a:schemeClr val="tx1"/>
                </a:solidFill>
                <a:effectLst/>
                <a:latin typeface="Arial" panose="020B0604020202020204" pitchFamily="34" charset="0"/>
              </a:rPr>
              <a:t> Captions should highlight key context, not just visible objects.</a:t>
            </a:r>
          </a:p>
          <a:p>
            <a:pPr eaLnBrk="0" fontAlgn="base" hangingPunct="0">
              <a:lnSpc>
                <a:spcPct val="25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Temporal Consistency:</a:t>
            </a:r>
            <a:r>
              <a:rPr kumimoji="0" lang="en-US" altLang="en-US" sz="1800" b="0" i="0" u="none" strike="noStrike" cap="none" normalizeH="0" baseline="0" dirty="0">
                <a:ln>
                  <a:noFill/>
                </a:ln>
                <a:solidFill>
                  <a:schemeClr val="tx1"/>
                </a:solidFill>
                <a:effectLst/>
                <a:latin typeface="Arial" panose="020B0604020202020204" pitchFamily="34" charset="0"/>
              </a:rPr>
              <a:t> Text and visuals must stay aligned over time in videos.</a:t>
            </a:r>
          </a:p>
          <a:p>
            <a:pPr eaLnBrk="0" fontAlgn="base" hangingPunct="0">
              <a:lnSpc>
                <a:spcPct val="25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Cultural &amp; Linguistic Nuance:</a:t>
            </a:r>
            <a:r>
              <a:rPr kumimoji="0" lang="en-US" altLang="en-US" sz="1800" b="0" i="0" u="none" strike="noStrike" cap="none" normalizeH="0" baseline="0" dirty="0">
                <a:ln>
                  <a:noFill/>
                </a:ln>
                <a:solidFill>
                  <a:schemeClr val="tx1"/>
                </a:solidFill>
                <a:effectLst/>
                <a:latin typeface="Arial" panose="020B0604020202020204" pitchFamily="34" charset="0"/>
              </a:rPr>
              <a:t> Cultural or language differences can cause subtle misalignments.</a:t>
            </a:r>
          </a:p>
          <a:p>
            <a:pPr eaLnBrk="0" fontAlgn="base" hangingPunct="0">
              <a:lnSpc>
                <a:spcPct val="25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Ambiguity &amp; Subjectivity:</a:t>
            </a:r>
            <a:r>
              <a:rPr kumimoji="0" lang="en-US" altLang="en-US" sz="1800" b="0" i="0" u="none" strike="noStrike" cap="none" normalizeH="0" baseline="0" dirty="0">
                <a:ln>
                  <a:noFill/>
                </a:ln>
                <a:solidFill>
                  <a:schemeClr val="tx1"/>
                </a:solidFill>
                <a:effectLst/>
                <a:latin typeface="Arial" panose="020B0604020202020204" pitchFamily="34" charset="0"/>
              </a:rPr>
              <a:t> Images may have multiple meanings that confuse alignment.</a:t>
            </a:r>
          </a:p>
          <a:p>
            <a:pPr eaLnBrk="0" fontAlgn="base" hangingPunct="0">
              <a:lnSpc>
                <a:spcPct val="25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Scale-induced Errors:</a:t>
            </a:r>
            <a:r>
              <a:rPr kumimoji="0" lang="en-US" altLang="en-US" sz="1800" b="0" i="0" u="none" strike="noStrike" cap="none" normalizeH="0" baseline="0" dirty="0">
                <a:ln>
                  <a:noFill/>
                </a:ln>
                <a:solidFill>
                  <a:schemeClr val="tx1"/>
                </a:solidFill>
                <a:effectLst/>
                <a:latin typeface="Arial" panose="020B0604020202020204" pitchFamily="34" charset="0"/>
              </a:rPr>
              <a:t> Larger datasets increase the risk of unnoticed alignment errors.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7973682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1C515-7127-EAFF-F9AB-DF07B01E4986}"/>
              </a:ext>
            </a:extLst>
          </p:cNvPr>
          <p:cNvSpPr>
            <a:spLocks noGrp="1"/>
          </p:cNvSpPr>
          <p:nvPr>
            <p:ph type="title"/>
          </p:nvPr>
        </p:nvSpPr>
        <p:spPr>
          <a:xfrm>
            <a:off x="838200" y="365125"/>
            <a:ext cx="10629276" cy="549275"/>
          </a:xfrm>
        </p:spPr>
        <p:txBody>
          <a:bodyPr>
            <a:normAutofit fontScale="90000"/>
          </a:bodyPr>
          <a:lstStyle/>
          <a:p>
            <a:r>
              <a:rPr lang="en-US" dirty="0"/>
              <a:t>An illustration of typical MLLM architecture.</a:t>
            </a:r>
            <a:endParaRPr lang="en-IN" dirty="0"/>
          </a:p>
        </p:txBody>
      </p:sp>
      <p:pic>
        <p:nvPicPr>
          <p:cNvPr id="5" name="Content Placeholder 4">
            <a:extLst>
              <a:ext uri="{FF2B5EF4-FFF2-40B4-BE49-F238E27FC236}">
                <a16:creationId xmlns:a16="http://schemas.microsoft.com/office/drawing/2014/main" id="{6885BF18-F93E-1720-A200-98C3B407A5F8}"/>
              </a:ext>
            </a:extLst>
          </p:cNvPr>
          <p:cNvPicPr>
            <a:picLocks noGrp="1" noChangeAspect="1"/>
          </p:cNvPicPr>
          <p:nvPr>
            <p:ph idx="1"/>
          </p:nvPr>
        </p:nvPicPr>
        <p:blipFill>
          <a:blip r:embed="rId2"/>
          <a:stretch>
            <a:fillRect/>
          </a:stretch>
        </p:blipFill>
        <p:spPr>
          <a:xfrm>
            <a:off x="463446" y="1304144"/>
            <a:ext cx="11004030" cy="5188731"/>
          </a:xfrm>
          <a:prstGeom prst="rect">
            <a:avLst/>
          </a:prstGeom>
        </p:spPr>
      </p:pic>
    </p:spTree>
    <p:extLst>
      <p:ext uri="{BB962C8B-B14F-4D97-AF65-F5344CB8AC3E}">
        <p14:creationId xmlns:p14="http://schemas.microsoft.com/office/powerpoint/2010/main" val="2800496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0C64F-BE2E-42CE-E79F-10E899285BB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56534AA-FFB8-9D99-41BD-C092B796C41A}"/>
              </a:ext>
            </a:extLst>
          </p:cNvPr>
          <p:cNvPicPr>
            <a:picLocks noGrp="1" noChangeAspect="1"/>
          </p:cNvPicPr>
          <p:nvPr>
            <p:ph idx="1"/>
          </p:nvPr>
        </p:nvPicPr>
        <p:blipFill>
          <a:blip r:embed="rId2"/>
          <a:stretch>
            <a:fillRect/>
          </a:stretch>
        </p:blipFill>
        <p:spPr>
          <a:xfrm>
            <a:off x="838200" y="829820"/>
            <a:ext cx="10977617" cy="4731531"/>
          </a:xfrm>
          <a:prstGeom prst="rect">
            <a:avLst/>
          </a:prstGeom>
        </p:spPr>
      </p:pic>
    </p:spTree>
    <p:extLst>
      <p:ext uri="{BB962C8B-B14F-4D97-AF65-F5344CB8AC3E}">
        <p14:creationId xmlns:p14="http://schemas.microsoft.com/office/powerpoint/2010/main" val="8228713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FD4C0-8A57-D057-0796-21B75569D1B3}"/>
              </a:ext>
            </a:extLst>
          </p:cNvPr>
          <p:cNvSpPr>
            <a:spLocks noGrp="1"/>
          </p:cNvSpPr>
          <p:nvPr>
            <p:ph type="title"/>
          </p:nvPr>
        </p:nvSpPr>
        <p:spPr>
          <a:xfrm>
            <a:off x="838200" y="335144"/>
            <a:ext cx="11318823" cy="1325563"/>
          </a:xfrm>
        </p:spPr>
        <p:txBody>
          <a:bodyPr/>
          <a:lstStyle/>
          <a:p>
            <a:r>
              <a:rPr lang="en-US" dirty="0"/>
              <a:t>Basic Technical Framework Of Image-text Composite Retrieval</a:t>
            </a:r>
            <a:endParaRPr lang="en-IN" dirty="0"/>
          </a:p>
        </p:txBody>
      </p:sp>
      <p:pic>
        <p:nvPicPr>
          <p:cNvPr id="5" name="Content Placeholder 4">
            <a:extLst>
              <a:ext uri="{FF2B5EF4-FFF2-40B4-BE49-F238E27FC236}">
                <a16:creationId xmlns:a16="http://schemas.microsoft.com/office/drawing/2014/main" id="{D7C903DA-EF68-3ECF-869B-721C4FB546C2}"/>
              </a:ext>
            </a:extLst>
          </p:cNvPr>
          <p:cNvPicPr>
            <a:picLocks noGrp="1" noChangeAspect="1"/>
          </p:cNvPicPr>
          <p:nvPr>
            <p:ph idx="1"/>
          </p:nvPr>
        </p:nvPicPr>
        <p:blipFill>
          <a:blip r:embed="rId2"/>
          <a:stretch>
            <a:fillRect/>
          </a:stretch>
        </p:blipFill>
        <p:spPr>
          <a:xfrm>
            <a:off x="564431" y="2266376"/>
            <a:ext cx="11063138" cy="3309965"/>
          </a:xfrm>
          <a:prstGeom prst="rect">
            <a:avLst/>
          </a:prstGeom>
        </p:spPr>
      </p:pic>
    </p:spTree>
    <p:extLst>
      <p:ext uri="{BB962C8B-B14F-4D97-AF65-F5344CB8AC3E}">
        <p14:creationId xmlns:p14="http://schemas.microsoft.com/office/powerpoint/2010/main" val="19984706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50989-8407-974A-A40F-1850914C22D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9450293-D2C7-0CF4-2811-F671579E993F}"/>
              </a:ext>
            </a:extLst>
          </p:cNvPr>
          <p:cNvPicPr>
            <a:picLocks noGrp="1" noChangeAspect="1"/>
          </p:cNvPicPr>
          <p:nvPr>
            <p:ph idx="1"/>
          </p:nvPr>
        </p:nvPicPr>
        <p:blipFill>
          <a:blip r:embed="rId2"/>
          <a:stretch>
            <a:fillRect/>
          </a:stretch>
        </p:blipFill>
        <p:spPr>
          <a:xfrm>
            <a:off x="553494" y="327852"/>
            <a:ext cx="11085011" cy="6232276"/>
          </a:xfrm>
          <a:prstGeom prst="rect">
            <a:avLst/>
          </a:prstGeom>
        </p:spPr>
      </p:pic>
    </p:spTree>
    <p:extLst>
      <p:ext uri="{BB962C8B-B14F-4D97-AF65-F5344CB8AC3E}">
        <p14:creationId xmlns:p14="http://schemas.microsoft.com/office/powerpoint/2010/main" val="77418215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A99CB64-2262-358F-E121-01D5DE3A64F6}"/>
              </a:ext>
            </a:extLst>
          </p:cNvPr>
          <p:cNvPicPr>
            <a:picLocks noGrp="1" noChangeAspect="1"/>
          </p:cNvPicPr>
          <p:nvPr>
            <p:ph idx="1"/>
          </p:nvPr>
        </p:nvPicPr>
        <p:blipFill>
          <a:blip r:embed="rId2"/>
          <a:srcRect t="7307" b="7602"/>
          <a:stretch>
            <a:fillRect/>
          </a:stretch>
        </p:blipFill>
        <p:spPr>
          <a:xfrm>
            <a:off x="252217" y="509666"/>
            <a:ext cx="11687566" cy="5983209"/>
          </a:xfrm>
          <a:prstGeom prst="rect">
            <a:avLst/>
          </a:prstGeom>
        </p:spPr>
      </p:pic>
    </p:spTree>
    <p:extLst>
      <p:ext uri="{BB962C8B-B14F-4D97-AF65-F5344CB8AC3E}">
        <p14:creationId xmlns:p14="http://schemas.microsoft.com/office/powerpoint/2010/main" val="154940722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5D5275A-2B5E-909D-674B-E6D64D0CC4DF}"/>
              </a:ext>
            </a:extLst>
          </p:cNvPr>
          <p:cNvPicPr>
            <a:picLocks noGrp="1" noChangeAspect="1"/>
          </p:cNvPicPr>
          <p:nvPr>
            <p:ph idx="1"/>
          </p:nvPr>
        </p:nvPicPr>
        <p:blipFill>
          <a:blip r:embed="rId2"/>
          <a:srcRect t="6963" b="14492"/>
          <a:stretch>
            <a:fillRect/>
          </a:stretch>
        </p:blipFill>
        <p:spPr>
          <a:xfrm>
            <a:off x="164473" y="558193"/>
            <a:ext cx="11782688" cy="5396459"/>
          </a:xfrm>
          <a:prstGeom prst="rect">
            <a:avLst/>
          </a:prstGeom>
        </p:spPr>
      </p:pic>
    </p:spTree>
    <p:extLst>
      <p:ext uri="{BB962C8B-B14F-4D97-AF65-F5344CB8AC3E}">
        <p14:creationId xmlns:p14="http://schemas.microsoft.com/office/powerpoint/2010/main" val="65930230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FEEA895-1282-367A-097C-36324D9477FF}"/>
              </a:ext>
            </a:extLst>
          </p:cNvPr>
          <p:cNvPicPr>
            <a:picLocks noGrp="1" noChangeAspect="1"/>
          </p:cNvPicPr>
          <p:nvPr>
            <p:ph idx="1"/>
          </p:nvPr>
        </p:nvPicPr>
        <p:blipFill>
          <a:blip r:embed="rId2"/>
          <a:srcRect t="6963"/>
          <a:stretch>
            <a:fillRect/>
          </a:stretch>
        </p:blipFill>
        <p:spPr>
          <a:xfrm>
            <a:off x="628446" y="569040"/>
            <a:ext cx="10935108" cy="5719919"/>
          </a:xfrm>
          <a:prstGeom prst="rect">
            <a:avLst/>
          </a:prstGeom>
        </p:spPr>
      </p:pic>
    </p:spTree>
    <p:extLst>
      <p:ext uri="{BB962C8B-B14F-4D97-AF65-F5344CB8AC3E}">
        <p14:creationId xmlns:p14="http://schemas.microsoft.com/office/powerpoint/2010/main" val="184301915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1F082-60CC-83BA-E8E3-04B29C296FC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5B72089-B217-10AD-7952-1B4F9CD1BC8F}"/>
              </a:ext>
            </a:extLst>
          </p:cNvPr>
          <p:cNvPicPr>
            <a:picLocks noGrp="1" noChangeAspect="1"/>
          </p:cNvPicPr>
          <p:nvPr>
            <p:ph idx="1"/>
          </p:nvPr>
        </p:nvPicPr>
        <p:blipFill>
          <a:blip r:embed="rId2"/>
          <a:srcRect t="7307"/>
          <a:stretch>
            <a:fillRect/>
          </a:stretch>
        </p:blipFill>
        <p:spPr>
          <a:xfrm>
            <a:off x="721374" y="658500"/>
            <a:ext cx="10632426" cy="5541000"/>
          </a:xfrm>
          <a:prstGeom prst="rect">
            <a:avLst/>
          </a:prstGeom>
        </p:spPr>
      </p:pic>
    </p:spTree>
    <p:extLst>
      <p:ext uri="{BB962C8B-B14F-4D97-AF65-F5344CB8AC3E}">
        <p14:creationId xmlns:p14="http://schemas.microsoft.com/office/powerpoint/2010/main" val="153842301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8D22E609-044F-C110-AED0-DFB73441E7AA}"/>
              </a:ext>
            </a:extLst>
          </p:cNvPr>
          <p:cNvPicPr>
            <a:picLocks noGrp="1" noChangeAspect="1"/>
          </p:cNvPicPr>
          <p:nvPr>
            <p:ph idx="1"/>
          </p:nvPr>
        </p:nvPicPr>
        <p:blipFill>
          <a:blip r:embed="rId2"/>
          <a:srcRect t="6458"/>
          <a:stretch>
            <a:fillRect/>
          </a:stretch>
        </p:blipFill>
        <p:spPr>
          <a:xfrm>
            <a:off x="778347" y="559717"/>
            <a:ext cx="10911466" cy="5738565"/>
          </a:xfrm>
          <a:prstGeom prst="rect">
            <a:avLst/>
          </a:prstGeom>
        </p:spPr>
      </p:pic>
    </p:spTree>
    <p:extLst>
      <p:ext uri="{BB962C8B-B14F-4D97-AF65-F5344CB8AC3E}">
        <p14:creationId xmlns:p14="http://schemas.microsoft.com/office/powerpoint/2010/main" val="353331968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E88EE832-929F-46D2-36B2-BC03E61D5BFA}"/>
              </a:ext>
            </a:extLst>
          </p:cNvPr>
          <p:cNvPicPr>
            <a:picLocks noGrp="1" noChangeAspect="1"/>
          </p:cNvPicPr>
          <p:nvPr>
            <p:ph idx="1"/>
          </p:nvPr>
        </p:nvPicPr>
        <p:blipFill>
          <a:blip r:embed="rId2"/>
          <a:srcRect t="6626"/>
          <a:stretch>
            <a:fillRect/>
          </a:stretch>
        </p:blipFill>
        <p:spPr>
          <a:xfrm>
            <a:off x="682268" y="959370"/>
            <a:ext cx="10950099" cy="5748515"/>
          </a:xfrm>
          <a:prstGeom prst="rect">
            <a:avLst/>
          </a:prstGeom>
        </p:spPr>
      </p:pic>
    </p:spTree>
    <p:extLst>
      <p:ext uri="{BB962C8B-B14F-4D97-AF65-F5344CB8AC3E}">
        <p14:creationId xmlns:p14="http://schemas.microsoft.com/office/powerpoint/2010/main" val="323003085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260129E-BD13-8F8D-BDFA-31DACD5A7AB2}"/>
              </a:ext>
            </a:extLst>
          </p:cNvPr>
          <p:cNvPicPr>
            <a:picLocks noGrp="1" noChangeAspect="1"/>
          </p:cNvPicPr>
          <p:nvPr>
            <p:ph idx="1"/>
          </p:nvPr>
        </p:nvPicPr>
        <p:blipFill>
          <a:blip r:embed="rId2"/>
          <a:srcRect t="7652"/>
          <a:stretch>
            <a:fillRect/>
          </a:stretch>
        </p:blipFill>
        <p:spPr>
          <a:xfrm>
            <a:off x="567127" y="558383"/>
            <a:ext cx="11057745" cy="5741233"/>
          </a:xfrm>
          <a:prstGeom prst="rect">
            <a:avLst/>
          </a:prstGeom>
        </p:spPr>
      </p:pic>
    </p:spTree>
    <p:extLst>
      <p:ext uri="{BB962C8B-B14F-4D97-AF65-F5344CB8AC3E}">
        <p14:creationId xmlns:p14="http://schemas.microsoft.com/office/powerpoint/2010/main" val="418605705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637ACCF-7E3A-3A13-D167-9C46E81B3336}"/>
              </a:ext>
            </a:extLst>
          </p:cNvPr>
          <p:cNvPicPr>
            <a:picLocks noGrp="1" noChangeAspect="1"/>
          </p:cNvPicPr>
          <p:nvPr>
            <p:ph idx="1"/>
          </p:nvPr>
        </p:nvPicPr>
        <p:blipFill>
          <a:blip r:embed="rId2"/>
          <a:srcRect t="7997"/>
          <a:stretch>
            <a:fillRect/>
          </a:stretch>
        </p:blipFill>
        <p:spPr>
          <a:xfrm>
            <a:off x="667278" y="719527"/>
            <a:ext cx="11128125" cy="5756223"/>
          </a:xfrm>
          <a:prstGeom prst="rect">
            <a:avLst/>
          </a:prstGeom>
        </p:spPr>
      </p:pic>
    </p:spTree>
    <p:extLst>
      <p:ext uri="{BB962C8B-B14F-4D97-AF65-F5344CB8AC3E}">
        <p14:creationId xmlns:p14="http://schemas.microsoft.com/office/powerpoint/2010/main" val="304108162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2FE5A-23AC-9B0A-2AD0-F0F9FC656B49}"/>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D96951D-6F3A-37EE-9F7E-99A08D1D40AD}"/>
              </a:ext>
            </a:extLst>
          </p:cNvPr>
          <p:cNvPicPr>
            <a:picLocks noGrp="1" noChangeAspect="1"/>
          </p:cNvPicPr>
          <p:nvPr>
            <p:ph idx="1"/>
          </p:nvPr>
        </p:nvPicPr>
        <p:blipFill>
          <a:blip r:embed="rId2"/>
          <a:srcRect t="6274"/>
          <a:stretch>
            <a:fillRect/>
          </a:stretch>
        </p:blipFill>
        <p:spPr>
          <a:xfrm>
            <a:off x="281667" y="365125"/>
            <a:ext cx="11628666" cy="6127750"/>
          </a:xfrm>
          <a:prstGeom prst="rect">
            <a:avLst/>
          </a:prstGeom>
        </p:spPr>
      </p:pic>
    </p:spTree>
    <p:extLst>
      <p:ext uri="{BB962C8B-B14F-4D97-AF65-F5344CB8AC3E}">
        <p14:creationId xmlns:p14="http://schemas.microsoft.com/office/powerpoint/2010/main" val="15575899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FB8D6A4-0473-C541-71D1-B1939EDD2537}"/>
              </a:ext>
            </a:extLst>
          </p:cNvPr>
          <p:cNvPicPr>
            <a:picLocks noGrp="1" noChangeAspect="1"/>
          </p:cNvPicPr>
          <p:nvPr>
            <p:ph idx="1"/>
          </p:nvPr>
        </p:nvPicPr>
        <p:blipFill>
          <a:blip r:embed="rId2"/>
          <a:srcRect t="5930"/>
          <a:stretch>
            <a:fillRect/>
          </a:stretch>
        </p:blipFill>
        <p:spPr>
          <a:xfrm>
            <a:off x="472406" y="629586"/>
            <a:ext cx="11195385" cy="5921115"/>
          </a:xfrm>
          <a:prstGeom prst="rect">
            <a:avLst/>
          </a:prstGeom>
        </p:spPr>
      </p:pic>
    </p:spTree>
    <p:extLst>
      <p:ext uri="{BB962C8B-B14F-4D97-AF65-F5344CB8AC3E}">
        <p14:creationId xmlns:p14="http://schemas.microsoft.com/office/powerpoint/2010/main" val="152002910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ECF35B4-6735-D7AA-EC8D-736A46533C4C}"/>
              </a:ext>
            </a:extLst>
          </p:cNvPr>
          <p:cNvPicPr>
            <a:picLocks noGrp="1" noChangeAspect="1"/>
          </p:cNvPicPr>
          <p:nvPr>
            <p:ph idx="1"/>
          </p:nvPr>
        </p:nvPicPr>
        <p:blipFill>
          <a:blip r:embed="rId2"/>
          <a:srcRect l="25261" t="5530" r="25333"/>
          <a:stretch>
            <a:fillRect/>
          </a:stretch>
        </p:blipFill>
        <p:spPr>
          <a:xfrm>
            <a:off x="1501514" y="326848"/>
            <a:ext cx="9188971" cy="6204303"/>
          </a:xfrm>
          <a:prstGeom prst="rect">
            <a:avLst/>
          </a:prstGeom>
        </p:spPr>
      </p:pic>
    </p:spTree>
    <p:extLst>
      <p:ext uri="{BB962C8B-B14F-4D97-AF65-F5344CB8AC3E}">
        <p14:creationId xmlns:p14="http://schemas.microsoft.com/office/powerpoint/2010/main" val="96198552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13BBE97-0B8C-5A4E-F35C-5E103F554285}"/>
              </a:ext>
            </a:extLst>
          </p:cNvPr>
          <p:cNvPicPr>
            <a:picLocks noGrp="1" noChangeAspect="1"/>
          </p:cNvPicPr>
          <p:nvPr>
            <p:ph idx="1"/>
          </p:nvPr>
        </p:nvPicPr>
        <p:blipFill>
          <a:blip r:embed="rId2"/>
          <a:srcRect l="26048" t="4269" r="27856" b="7196"/>
          <a:stretch>
            <a:fillRect/>
          </a:stretch>
        </p:blipFill>
        <p:spPr>
          <a:xfrm>
            <a:off x="1326005" y="507272"/>
            <a:ext cx="9017208" cy="5843455"/>
          </a:xfrm>
          <a:prstGeom prst="rect">
            <a:avLst/>
          </a:prstGeom>
        </p:spPr>
      </p:pic>
    </p:spTree>
    <p:extLst>
      <p:ext uri="{BB962C8B-B14F-4D97-AF65-F5344CB8AC3E}">
        <p14:creationId xmlns:p14="http://schemas.microsoft.com/office/powerpoint/2010/main" val="133364762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641800C-12BA-F129-588C-8981A2593FAA}"/>
              </a:ext>
            </a:extLst>
          </p:cNvPr>
          <p:cNvPicPr>
            <a:picLocks noGrp="1" noChangeAspect="1"/>
          </p:cNvPicPr>
          <p:nvPr>
            <p:ph idx="1"/>
          </p:nvPr>
        </p:nvPicPr>
        <p:blipFill>
          <a:blip r:embed="rId2"/>
          <a:stretch>
            <a:fillRect/>
          </a:stretch>
        </p:blipFill>
        <p:spPr>
          <a:xfrm>
            <a:off x="292525" y="484252"/>
            <a:ext cx="11070020" cy="6223847"/>
          </a:xfrm>
          <a:prstGeom prst="rect">
            <a:avLst/>
          </a:prstGeom>
        </p:spPr>
      </p:pic>
    </p:spTree>
    <p:extLst>
      <p:ext uri="{BB962C8B-B14F-4D97-AF65-F5344CB8AC3E}">
        <p14:creationId xmlns:p14="http://schemas.microsoft.com/office/powerpoint/2010/main" val="132390859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9CA4F1C-2236-C857-6707-36655AD80EAC}"/>
              </a:ext>
            </a:extLst>
          </p:cNvPr>
          <p:cNvPicPr>
            <a:picLocks noGrp="1" noChangeAspect="1"/>
          </p:cNvPicPr>
          <p:nvPr>
            <p:ph idx="1"/>
          </p:nvPr>
        </p:nvPicPr>
        <p:blipFill>
          <a:blip r:embed="rId2"/>
          <a:stretch>
            <a:fillRect/>
          </a:stretch>
        </p:blipFill>
        <p:spPr>
          <a:xfrm>
            <a:off x="568485" y="321290"/>
            <a:ext cx="11055030" cy="6215420"/>
          </a:xfrm>
          <a:prstGeom prst="rect">
            <a:avLst/>
          </a:prstGeom>
        </p:spPr>
      </p:pic>
    </p:spTree>
    <p:extLst>
      <p:ext uri="{BB962C8B-B14F-4D97-AF65-F5344CB8AC3E}">
        <p14:creationId xmlns:p14="http://schemas.microsoft.com/office/powerpoint/2010/main" val="45849246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A20F71A-5833-3547-365B-4FC4825DC7A7}"/>
              </a:ext>
            </a:extLst>
          </p:cNvPr>
          <p:cNvPicPr>
            <a:picLocks noGrp="1" noChangeAspect="1"/>
          </p:cNvPicPr>
          <p:nvPr>
            <p:ph idx="1"/>
          </p:nvPr>
        </p:nvPicPr>
        <p:blipFill>
          <a:blip r:embed="rId2"/>
          <a:stretch>
            <a:fillRect/>
          </a:stretch>
        </p:blipFill>
        <p:spPr>
          <a:xfrm>
            <a:off x="0" y="163970"/>
            <a:ext cx="11614663" cy="6530060"/>
          </a:xfrm>
          <a:prstGeom prst="rect">
            <a:avLst/>
          </a:prstGeom>
        </p:spPr>
      </p:pic>
    </p:spTree>
    <p:extLst>
      <p:ext uri="{BB962C8B-B14F-4D97-AF65-F5344CB8AC3E}">
        <p14:creationId xmlns:p14="http://schemas.microsoft.com/office/powerpoint/2010/main" val="401329726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0B8749B-45C6-7783-86A8-76A146E41599}"/>
              </a:ext>
            </a:extLst>
          </p:cNvPr>
          <p:cNvPicPr>
            <a:picLocks noGrp="1" noChangeAspect="1"/>
          </p:cNvPicPr>
          <p:nvPr>
            <p:ph idx="1"/>
          </p:nvPr>
        </p:nvPicPr>
        <p:blipFill>
          <a:blip r:embed="rId2"/>
          <a:stretch>
            <a:fillRect/>
          </a:stretch>
        </p:blipFill>
        <p:spPr>
          <a:xfrm>
            <a:off x="232564" y="232798"/>
            <a:ext cx="11369823" cy="6392404"/>
          </a:xfrm>
          <a:prstGeom prst="rect">
            <a:avLst/>
          </a:prstGeom>
        </p:spPr>
      </p:pic>
    </p:spTree>
    <p:extLst>
      <p:ext uri="{BB962C8B-B14F-4D97-AF65-F5344CB8AC3E}">
        <p14:creationId xmlns:p14="http://schemas.microsoft.com/office/powerpoint/2010/main" val="24184781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AD901-C569-F01E-89B1-0E450DDBEE2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210DDBF-BB7C-E65D-E2E0-9EE76BC17018}"/>
              </a:ext>
            </a:extLst>
          </p:cNvPr>
          <p:cNvPicPr>
            <a:picLocks noGrp="1" noChangeAspect="1"/>
          </p:cNvPicPr>
          <p:nvPr>
            <p:ph idx="1"/>
          </p:nvPr>
        </p:nvPicPr>
        <p:blipFill>
          <a:blip r:embed="rId2"/>
          <a:stretch>
            <a:fillRect/>
          </a:stretch>
        </p:blipFill>
        <p:spPr>
          <a:xfrm>
            <a:off x="838200" y="417217"/>
            <a:ext cx="10806443" cy="6075658"/>
          </a:xfrm>
          <a:prstGeom prst="rect">
            <a:avLst/>
          </a:prstGeom>
        </p:spPr>
      </p:pic>
    </p:spTree>
    <p:extLst>
      <p:ext uri="{BB962C8B-B14F-4D97-AF65-F5344CB8AC3E}">
        <p14:creationId xmlns:p14="http://schemas.microsoft.com/office/powerpoint/2010/main" val="359767462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FA40C22-6565-5AA5-6D71-7C56D1E00CB2}"/>
              </a:ext>
            </a:extLst>
          </p:cNvPr>
          <p:cNvPicPr>
            <a:picLocks noGrp="1" noChangeAspect="1"/>
          </p:cNvPicPr>
          <p:nvPr>
            <p:ph idx="1"/>
          </p:nvPr>
        </p:nvPicPr>
        <p:blipFill>
          <a:blip r:embed="rId2"/>
          <a:stretch>
            <a:fillRect/>
          </a:stretch>
        </p:blipFill>
        <p:spPr>
          <a:xfrm>
            <a:off x="838200" y="472931"/>
            <a:ext cx="10515600" cy="5912138"/>
          </a:xfrm>
          <a:prstGeom prst="rect">
            <a:avLst/>
          </a:prstGeom>
        </p:spPr>
      </p:pic>
    </p:spTree>
    <p:extLst>
      <p:ext uri="{BB962C8B-B14F-4D97-AF65-F5344CB8AC3E}">
        <p14:creationId xmlns:p14="http://schemas.microsoft.com/office/powerpoint/2010/main" val="69416720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A454456-0D99-78CB-D94C-8D71B56BCF05}"/>
              </a:ext>
            </a:extLst>
          </p:cNvPr>
          <p:cNvPicPr>
            <a:picLocks noGrp="1" noChangeAspect="1"/>
          </p:cNvPicPr>
          <p:nvPr>
            <p:ph idx="1"/>
          </p:nvPr>
        </p:nvPicPr>
        <p:blipFill>
          <a:blip r:embed="rId2"/>
          <a:stretch>
            <a:fillRect/>
          </a:stretch>
        </p:blipFill>
        <p:spPr>
          <a:xfrm>
            <a:off x="264826" y="150565"/>
            <a:ext cx="11662348" cy="6556869"/>
          </a:xfrm>
          <a:prstGeom prst="rect">
            <a:avLst/>
          </a:prstGeom>
        </p:spPr>
      </p:pic>
    </p:spTree>
    <p:extLst>
      <p:ext uri="{BB962C8B-B14F-4D97-AF65-F5344CB8AC3E}">
        <p14:creationId xmlns:p14="http://schemas.microsoft.com/office/powerpoint/2010/main" val="134947032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9A9E6C4-BE53-7AB9-D89C-FDEE99939EDB}"/>
              </a:ext>
            </a:extLst>
          </p:cNvPr>
          <p:cNvPicPr>
            <a:picLocks noGrp="1" noChangeAspect="1"/>
          </p:cNvPicPr>
          <p:nvPr>
            <p:ph idx="1"/>
          </p:nvPr>
        </p:nvPicPr>
        <p:blipFill>
          <a:blip r:embed="rId2"/>
          <a:stretch>
            <a:fillRect/>
          </a:stretch>
        </p:blipFill>
        <p:spPr>
          <a:xfrm>
            <a:off x="757218" y="359215"/>
            <a:ext cx="10920119" cy="6139569"/>
          </a:xfrm>
          <a:prstGeom prst="rect">
            <a:avLst/>
          </a:prstGeom>
        </p:spPr>
      </p:pic>
    </p:spTree>
    <p:extLst>
      <p:ext uri="{BB962C8B-B14F-4D97-AF65-F5344CB8AC3E}">
        <p14:creationId xmlns:p14="http://schemas.microsoft.com/office/powerpoint/2010/main" val="391841833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EABF880-6919-D8BE-CE7A-9674C880CFC4}"/>
              </a:ext>
            </a:extLst>
          </p:cNvPr>
          <p:cNvPicPr>
            <a:picLocks noGrp="1" noChangeAspect="1"/>
          </p:cNvPicPr>
          <p:nvPr>
            <p:ph idx="1"/>
          </p:nvPr>
        </p:nvPicPr>
        <p:blipFill>
          <a:blip r:embed="rId2"/>
          <a:stretch>
            <a:fillRect/>
          </a:stretch>
        </p:blipFill>
        <p:spPr>
          <a:xfrm>
            <a:off x="127632" y="241225"/>
            <a:ext cx="11339844" cy="6375549"/>
          </a:xfrm>
          <a:prstGeom prst="rect">
            <a:avLst/>
          </a:prstGeom>
        </p:spPr>
      </p:pic>
    </p:spTree>
    <p:extLst>
      <p:ext uri="{BB962C8B-B14F-4D97-AF65-F5344CB8AC3E}">
        <p14:creationId xmlns:p14="http://schemas.microsoft.com/office/powerpoint/2010/main" val="298091354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1A4BC095-78A0-9C5F-AD1D-032251B42D1F}"/>
              </a:ext>
            </a:extLst>
          </p:cNvPr>
          <p:cNvPicPr>
            <a:picLocks noGrp="1" noChangeAspect="1"/>
          </p:cNvPicPr>
          <p:nvPr>
            <p:ph idx="1"/>
          </p:nvPr>
        </p:nvPicPr>
        <p:blipFill>
          <a:blip r:embed="rId2"/>
          <a:srcRect l="11651" t="6274" r="5493" b="7602"/>
          <a:stretch>
            <a:fillRect/>
          </a:stretch>
        </p:blipFill>
        <p:spPr>
          <a:xfrm>
            <a:off x="781361" y="419514"/>
            <a:ext cx="10299493" cy="6018972"/>
          </a:xfrm>
          <a:prstGeom prst="rect">
            <a:avLst/>
          </a:prstGeom>
        </p:spPr>
      </p:pic>
    </p:spTree>
    <p:extLst>
      <p:ext uri="{BB962C8B-B14F-4D97-AF65-F5344CB8AC3E}">
        <p14:creationId xmlns:p14="http://schemas.microsoft.com/office/powerpoint/2010/main" val="49307448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462FE-696A-42F0-58BF-3B8E4868845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14D1057-B2C0-E160-0D89-A59D70136020}"/>
              </a:ext>
            </a:extLst>
          </p:cNvPr>
          <p:cNvPicPr>
            <a:picLocks noGrp="1" noChangeAspect="1"/>
          </p:cNvPicPr>
          <p:nvPr>
            <p:ph idx="1"/>
          </p:nvPr>
        </p:nvPicPr>
        <p:blipFill>
          <a:blip r:embed="rId2"/>
          <a:srcRect l="17246" t="5974" r="11099" b="6671"/>
          <a:stretch>
            <a:fillRect/>
          </a:stretch>
        </p:blipFill>
        <p:spPr>
          <a:xfrm>
            <a:off x="1783831" y="365125"/>
            <a:ext cx="8979108" cy="6154362"/>
          </a:xfrm>
          <a:prstGeom prst="rect">
            <a:avLst/>
          </a:prstGeom>
        </p:spPr>
      </p:pic>
    </p:spTree>
    <p:extLst>
      <p:ext uri="{BB962C8B-B14F-4D97-AF65-F5344CB8AC3E}">
        <p14:creationId xmlns:p14="http://schemas.microsoft.com/office/powerpoint/2010/main" val="344851906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890D01F-CA0E-A60A-96A0-2FA9C0C08210}"/>
              </a:ext>
            </a:extLst>
          </p:cNvPr>
          <p:cNvPicPr>
            <a:picLocks noGrp="1" noChangeAspect="1"/>
          </p:cNvPicPr>
          <p:nvPr>
            <p:ph idx="1"/>
          </p:nvPr>
        </p:nvPicPr>
        <p:blipFill>
          <a:blip r:embed="rId2"/>
          <a:srcRect l="19463" t="4896" r="19721" b="6914"/>
          <a:stretch>
            <a:fillRect/>
          </a:stretch>
        </p:blipFill>
        <p:spPr>
          <a:xfrm>
            <a:off x="2158583" y="502003"/>
            <a:ext cx="7180289" cy="5853993"/>
          </a:xfrm>
          <a:prstGeom prst="rect">
            <a:avLst/>
          </a:prstGeom>
        </p:spPr>
      </p:pic>
    </p:spTree>
    <p:extLst>
      <p:ext uri="{BB962C8B-B14F-4D97-AF65-F5344CB8AC3E}">
        <p14:creationId xmlns:p14="http://schemas.microsoft.com/office/powerpoint/2010/main" val="114912114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F10E4124-071E-982B-4886-02C40CFDCDBE}"/>
              </a:ext>
            </a:extLst>
          </p:cNvPr>
          <p:cNvPicPr>
            <a:picLocks noGrp="1" noChangeAspect="1"/>
          </p:cNvPicPr>
          <p:nvPr>
            <p:ph idx="1"/>
          </p:nvPr>
        </p:nvPicPr>
        <p:blipFill>
          <a:blip r:embed="rId2"/>
          <a:srcRect l="19657" t="3517" r="18558" b="6569"/>
          <a:stretch>
            <a:fillRect/>
          </a:stretch>
        </p:blipFill>
        <p:spPr>
          <a:xfrm>
            <a:off x="2383437" y="734517"/>
            <a:ext cx="7180288" cy="5874782"/>
          </a:xfrm>
          <a:prstGeom prst="rect">
            <a:avLst/>
          </a:prstGeom>
        </p:spPr>
      </p:pic>
    </p:spTree>
    <p:extLst>
      <p:ext uri="{BB962C8B-B14F-4D97-AF65-F5344CB8AC3E}">
        <p14:creationId xmlns:p14="http://schemas.microsoft.com/office/powerpoint/2010/main" val="122367998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0BF3CDF-7487-1D0B-18C9-6CCC5C538D31}"/>
              </a:ext>
            </a:extLst>
          </p:cNvPr>
          <p:cNvPicPr>
            <a:picLocks noGrp="1" noChangeAspect="1"/>
          </p:cNvPicPr>
          <p:nvPr>
            <p:ph idx="1"/>
          </p:nvPr>
        </p:nvPicPr>
        <p:blipFill>
          <a:blip r:embed="rId2"/>
          <a:srcRect l="1856" t="7652" r="2968" b="22071"/>
          <a:stretch>
            <a:fillRect/>
          </a:stretch>
        </p:blipFill>
        <p:spPr>
          <a:xfrm>
            <a:off x="689548" y="1019331"/>
            <a:ext cx="10687986" cy="4437087"/>
          </a:xfrm>
          <a:prstGeom prst="rect">
            <a:avLst/>
          </a:prstGeom>
        </p:spPr>
      </p:pic>
    </p:spTree>
    <p:extLst>
      <p:ext uri="{BB962C8B-B14F-4D97-AF65-F5344CB8AC3E}">
        <p14:creationId xmlns:p14="http://schemas.microsoft.com/office/powerpoint/2010/main" val="348542374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74F4728-E821-09CD-5081-C381F8E9917C}"/>
              </a:ext>
            </a:extLst>
          </p:cNvPr>
          <p:cNvPicPr>
            <a:picLocks noGrp="1" noChangeAspect="1"/>
          </p:cNvPicPr>
          <p:nvPr>
            <p:ph idx="1"/>
          </p:nvPr>
        </p:nvPicPr>
        <p:blipFill>
          <a:blip r:embed="rId2"/>
          <a:srcRect l="24692" t="3863" r="25725" b="6912"/>
          <a:stretch>
            <a:fillRect/>
          </a:stretch>
        </p:blipFill>
        <p:spPr>
          <a:xfrm>
            <a:off x="2713221" y="365125"/>
            <a:ext cx="6190936" cy="6263485"/>
          </a:xfrm>
          <a:prstGeom prst="rect">
            <a:avLst/>
          </a:prstGeom>
        </p:spPr>
      </p:pic>
    </p:spTree>
    <p:extLst>
      <p:ext uri="{BB962C8B-B14F-4D97-AF65-F5344CB8AC3E}">
        <p14:creationId xmlns:p14="http://schemas.microsoft.com/office/powerpoint/2010/main" val="118060813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E24ED68-44B9-27DC-8413-A16422D4DC45}"/>
              </a:ext>
            </a:extLst>
          </p:cNvPr>
          <p:cNvPicPr>
            <a:picLocks noGrp="1" noChangeAspect="1"/>
          </p:cNvPicPr>
          <p:nvPr>
            <p:ph idx="1"/>
          </p:nvPr>
        </p:nvPicPr>
        <p:blipFill>
          <a:blip r:embed="rId2"/>
          <a:srcRect l="1630" t="7652" r="1531" b="8980"/>
          <a:stretch>
            <a:fillRect/>
          </a:stretch>
        </p:blipFill>
        <p:spPr>
          <a:xfrm>
            <a:off x="1169232" y="1041924"/>
            <a:ext cx="9863529" cy="4774151"/>
          </a:xfrm>
          <a:prstGeom prst="rect">
            <a:avLst/>
          </a:prstGeom>
        </p:spPr>
      </p:pic>
    </p:spTree>
    <p:extLst>
      <p:ext uri="{BB962C8B-B14F-4D97-AF65-F5344CB8AC3E}">
        <p14:creationId xmlns:p14="http://schemas.microsoft.com/office/powerpoint/2010/main" val="16943396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30D6596-F806-8784-0176-7BA861E64A68}"/>
              </a:ext>
            </a:extLst>
          </p:cNvPr>
          <p:cNvPicPr>
            <a:picLocks noGrp="1" noChangeAspect="1"/>
          </p:cNvPicPr>
          <p:nvPr>
            <p:ph idx="1"/>
          </p:nvPr>
        </p:nvPicPr>
        <p:blipFill>
          <a:blip r:embed="rId2"/>
          <a:srcRect l="25660" t="4896" r="26694"/>
          <a:stretch>
            <a:fillRect/>
          </a:stretch>
        </p:blipFill>
        <p:spPr>
          <a:xfrm>
            <a:off x="3132943" y="605048"/>
            <a:ext cx="5246557" cy="5887827"/>
          </a:xfrm>
          <a:prstGeom prst="rect">
            <a:avLst/>
          </a:prstGeom>
        </p:spPr>
      </p:pic>
    </p:spTree>
    <p:extLst>
      <p:ext uri="{BB962C8B-B14F-4D97-AF65-F5344CB8AC3E}">
        <p14:creationId xmlns:p14="http://schemas.microsoft.com/office/powerpoint/2010/main" val="257481755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9D6A776-B942-1D43-BD60-65BE3C6536C2}"/>
              </a:ext>
            </a:extLst>
          </p:cNvPr>
          <p:cNvPicPr>
            <a:picLocks noGrp="1" noChangeAspect="1"/>
          </p:cNvPicPr>
          <p:nvPr>
            <p:ph idx="1"/>
          </p:nvPr>
        </p:nvPicPr>
        <p:blipFill>
          <a:blip r:embed="rId2"/>
          <a:srcRect l="25273" t="4896" r="25531"/>
          <a:stretch>
            <a:fillRect/>
          </a:stretch>
        </p:blipFill>
        <p:spPr>
          <a:xfrm>
            <a:off x="2848131" y="431176"/>
            <a:ext cx="5516380" cy="5995648"/>
          </a:xfrm>
          <a:prstGeom prst="rect">
            <a:avLst/>
          </a:prstGeom>
        </p:spPr>
      </p:pic>
    </p:spTree>
    <p:extLst>
      <p:ext uri="{BB962C8B-B14F-4D97-AF65-F5344CB8AC3E}">
        <p14:creationId xmlns:p14="http://schemas.microsoft.com/office/powerpoint/2010/main" val="270632354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B1481FF-FC8C-2082-5513-F9C39C4421EF}"/>
              </a:ext>
            </a:extLst>
          </p:cNvPr>
          <p:cNvPicPr>
            <a:picLocks noGrp="1" noChangeAspect="1"/>
          </p:cNvPicPr>
          <p:nvPr>
            <p:ph idx="1"/>
          </p:nvPr>
        </p:nvPicPr>
        <p:blipFill>
          <a:blip r:embed="rId2"/>
          <a:srcRect l="26938" t="4896" r="27158" b="5191"/>
          <a:stretch>
            <a:fillRect/>
          </a:stretch>
        </p:blipFill>
        <p:spPr>
          <a:xfrm>
            <a:off x="1209207" y="366738"/>
            <a:ext cx="9773586" cy="6124523"/>
          </a:xfrm>
          <a:prstGeom prst="rect">
            <a:avLst/>
          </a:prstGeom>
        </p:spPr>
      </p:pic>
    </p:spTree>
    <p:extLst>
      <p:ext uri="{BB962C8B-B14F-4D97-AF65-F5344CB8AC3E}">
        <p14:creationId xmlns:p14="http://schemas.microsoft.com/office/powerpoint/2010/main" val="362244440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70FDA54-9822-4761-CF97-1C97F557C5CF}"/>
              </a:ext>
            </a:extLst>
          </p:cNvPr>
          <p:cNvPicPr>
            <a:picLocks noGrp="1" noChangeAspect="1"/>
          </p:cNvPicPr>
          <p:nvPr>
            <p:ph idx="1"/>
          </p:nvPr>
        </p:nvPicPr>
        <p:blipFill>
          <a:blip r:embed="rId2"/>
          <a:srcRect l="28566" t="4551" r="28629" b="23105"/>
          <a:stretch>
            <a:fillRect/>
          </a:stretch>
        </p:blipFill>
        <p:spPr>
          <a:xfrm>
            <a:off x="2698229" y="615799"/>
            <a:ext cx="5921116" cy="5626401"/>
          </a:xfrm>
          <a:prstGeom prst="rect">
            <a:avLst/>
          </a:prstGeom>
        </p:spPr>
      </p:pic>
    </p:spTree>
    <p:extLst>
      <p:ext uri="{BB962C8B-B14F-4D97-AF65-F5344CB8AC3E}">
        <p14:creationId xmlns:p14="http://schemas.microsoft.com/office/powerpoint/2010/main" val="271931727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A9D8396-5ED3-7F7D-A08B-C39119519F94}"/>
              </a:ext>
            </a:extLst>
          </p:cNvPr>
          <p:cNvPicPr>
            <a:picLocks noGrp="1" noChangeAspect="1"/>
          </p:cNvPicPr>
          <p:nvPr>
            <p:ph idx="1"/>
          </p:nvPr>
        </p:nvPicPr>
        <p:blipFill>
          <a:blip r:embed="rId2"/>
          <a:srcRect l="26241" t="4207" r="26306" b="10358"/>
          <a:stretch>
            <a:fillRect/>
          </a:stretch>
        </p:blipFill>
        <p:spPr>
          <a:xfrm>
            <a:off x="1933731" y="670006"/>
            <a:ext cx="7824866" cy="5745785"/>
          </a:xfrm>
          <a:prstGeom prst="rect">
            <a:avLst/>
          </a:prstGeom>
        </p:spPr>
      </p:pic>
    </p:spTree>
    <p:extLst>
      <p:ext uri="{BB962C8B-B14F-4D97-AF65-F5344CB8AC3E}">
        <p14:creationId xmlns:p14="http://schemas.microsoft.com/office/powerpoint/2010/main" val="243624226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DC2BE-E7A9-459F-CB9D-77DACC8F8E6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69CB572-5844-CEF3-5BA6-58A03076B4BD}"/>
              </a:ext>
            </a:extLst>
          </p:cNvPr>
          <p:cNvPicPr>
            <a:picLocks noGrp="1" noChangeAspect="1"/>
          </p:cNvPicPr>
          <p:nvPr>
            <p:ph idx="1"/>
          </p:nvPr>
        </p:nvPicPr>
        <p:blipFill>
          <a:blip r:embed="rId2"/>
          <a:srcRect l="27016" t="3863" r="25337"/>
          <a:stretch>
            <a:fillRect/>
          </a:stretch>
        </p:blipFill>
        <p:spPr>
          <a:xfrm>
            <a:off x="1843789" y="458475"/>
            <a:ext cx="7944787" cy="5941049"/>
          </a:xfrm>
          <a:prstGeom prst="rect">
            <a:avLst/>
          </a:prstGeom>
        </p:spPr>
      </p:pic>
    </p:spTree>
    <p:extLst>
      <p:ext uri="{BB962C8B-B14F-4D97-AF65-F5344CB8AC3E}">
        <p14:creationId xmlns:p14="http://schemas.microsoft.com/office/powerpoint/2010/main" val="139039156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37034-8011-FE8D-54D3-1ACD02269C4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85D06506-68E6-4055-94F1-3469872828C3}"/>
              </a:ext>
            </a:extLst>
          </p:cNvPr>
          <p:cNvPicPr>
            <a:picLocks noGrp="1" noChangeAspect="1"/>
          </p:cNvPicPr>
          <p:nvPr>
            <p:ph idx="1"/>
          </p:nvPr>
        </p:nvPicPr>
        <p:blipFill>
          <a:blip r:embed="rId2"/>
          <a:srcRect l="25273" t="6618" r="26500"/>
          <a:stretch>
            <a:fillRect/>
          </a:stretch>
        </p:blipFill>
        <p:spPr>
          <a:xfrm>
            <a:off x="2593299" y="63320"/>
            <a:ext cx="5906124" cy="6429555"/>
          </a:xfrm>
          <a:prstGeom prst="rect">
            <a:avLst/>
          </a:prstGeom>
        </p:spPr>
      </p:pic>
    </p:spTree>
    <p:extLst>
      <p:ext uri="{BB962C8B-B14F-4D97-AF65-F5344CB8AC3E}">
        <p14:creationId xmlns:p14="http://schemas.microsoft.com/office/powerpoint/2010/main" val="409826472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B4C98-20F4-AB54-693F-58FD91B8D99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856A89E8-2AE1-4AC2-9BA9-6579DDABF000}"/>
              </a:ext>
            </a:extLst>
          </p:cNvPr>
          <p:cNvPicPr>
            <a:picLocks noGrp="1" noChangeAspect="1"/>
          </p:cNvPicPr>
          <p:nvPr>
            <p:ph idx="1"/>
          </p:nvPr>
        </p:nvPicPr>
        <p:blipFill>
          <a:blip r:embed="rId2"/>
          <a:srcRect l="24885" t="4896" r="25337"/>
          <a:stretch>
            <a:fillRect/>
          </a:stretch>
        </p:blipFill>
        <p:spPr>
          <a:xfrm>
            <a:off x="2428406" y="192430"/>
            <a:ext cx="6565692" cy="6473140"/>
          </a:xfrm>
          <a:prstGeom prst="rect">
            <a:avLst/>
          </a:prstGeom>
        </p:spPr>
      </p:pic>
    </p:spTree>
    <p:extLst>
      <p:ext uri="{BB962C8B-B14F-4D97-AF65-F5344CB8AC3E}">
        <p14:creationId xmlns:p14="http://schemas.microsoft.com/office/powerpoint/2010/main" val="7902325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99CD3-6792-9AF6-4CB4-BB0245A3ACC9}"/>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9396BB1-0E1D-B18A-F200-992A72E34B66}"/>
              </a:ext>
            </a:extLst>
          </p:cNvPr>
          <p:cNvPicPr>
            <a:picLocks noGrp="1" noChangeAspect="1"/>
          </p:cNvPicPr>
          <p:nvPr>
            <p:ph idx="1"/>
          </p:nvPr>
        </p:nvPicPr>
        <p:blipFill>
          <a:blip r:embed="rId2"/>
          <a:srcRect l="26823" t="4551" r="26112"/>
          <a:stretch>
            <a:fillRect/>
          </a:stretch>
        </p:blipFill>
        <p:spPr>
          <a:xfrm>
            <a:off x="2833139" y="365125"/>
            <a:ext cx="5426441" cy="6187208"/>
          </a:xfrm>
          <a:prstGeom prst="rect">
            <a:avLst/>
          </a:prstGeom>
        </p:spPr>
      </p:pic>
    </p:spTree>
    <p:extLst>
      <p:ext uri="{BB962C8B-B14F-4D97-AF65-F5344CB8AC3E}">
        <p14:creationId xmlns:p14="http://schemas.microsoft.com/office/powerpoint/2010/main" val="398184680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B2208D0-E115-52DB-7482-333B9C52E3BC}"/>
              </a:ext>
            </a:extLst>
          </p:cNvPr>
          <p:cNvPicPr>
            <a:picLocks noGrp="1" noChangeAspect="1"/>
          </p:cNvPicPr>
          <p:nvPr>
            <p:ph idx="1"/>
          </p:nvPr>
        </p:nvPicPr>
        <p:blipFill>
          <a:blip r:embed="rId2"/>
          <a:srcRect l="25079" t="3863" r="25725"/>
          <a:stretch>
            <a:fillRect/>
          </a:stretch>
        </p:blipFill>
        <p:spPr>
          <a:xfrm>
            <a:off x="2938073" y="415603"/>
            <a:ext cx="5531370" cy="6077272"/>
          </a:xfrm>
          <a:prstGeom prst="rect">
            <a:avLst/>
          </a:prstGeom>
        </p:spPr>
      </p:pic>
    </p:spTree>
    <p:extLst>
      <p:ext uri="{BB962C8B-B14F-4D97-AF65-F5344CB8AC3E}">
        <p14:creationId xmlns:p14="http://schemas.microsoft.com/office/powerpoint/2010/main" val="16330108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E3525-00F3-8C1D-F283-092E55BE433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F5FEBC8-5005-9360-8D02-6D5B96BA90AE}"/>
              </a:ext>
            </a:extLst>
          </p:cNvPr>
          <p:cNvPicPr>
            <a:picLocks noGrp="1" noChangeAspect="1"/>
          </p:cNvPicPr>
          <p:nvPr>
            <p:ph idx="1"/>
          </p:nvPr>
        </p:nvPicPr>
        <p:blipFill>
          <a:blip r:embed="rId2"/>
          <a:srcRect l="26435" t="4896" r="26112"/>
          <a:stretch>
            <a:fillRect/>
          </a:stretch>
        </p:blipFill>
        <p:spPr>
          <a:xfrm>
            <a:off x="2758189" y="304161"/>
            <a:ext cx="5891135" cy="6249678"/>
          </a:xfrm>
          <a:prstGeom prst="rect">
            <a:avLst/>
          </a:prstGeom>
        </p:spPr>
      </p:pic>
    </p:spTree>
    <p:extLst>
      <p:ext uri="{BB962C8B-B14F-4D97-AF65-F5344CB8AC3E}">
        <p14:creationId xmlns:p14="http://schemas.microsoft.com/office/powerpoint/2010/main" val="37123740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1407695-486D-A25C-3C5B-4A13407843F2}"/>
              </a:ext>
            </a:extLst>
          </p:cNvPr>
          <p:cNvPicPr>
            <a:picLocks noGrp="1" noChangeAspect="1"/>
          </p:cNvPicPr>
          <p:nvPr>
            <p:ph idx="1"/>
          </p:nvPr>
        </p:nvPicPr>
        <p:blipFill>
          <a:blip r:embed="rId2"/>
          <a:srcRect l="25273" t="4207" r="24950"/>
          <a:stretch>
            <a:fillRect/>
          </a:stretch>
        </p:blipFill>
        <p:spPr>
          <a:xfrm>
            <a:off x="2878112" y="266296"/>
            <a:ext cx="5846164" cy="6325407"/>
          </a:xfrm>
          <a:prstGeom prst="rect">
            <a:avLst/>
          </a:prstGeom>
        </p:spPr>
      </p:pic>
    </p:spTree>
    <p:extLst>
      <p:ext uri="{BB962C8B-B14F-4D97-AF65-F5344CB8AC3E}">
        <p14:creationId xmlns:p14="http://schemas.microsoft.com/office/powerpoint/2010/main" val="342083756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040E279-12BB-EB99-499E-6B0CB8809AEE}"/>
              </a:ext>
            </a:extLst>
          </p:cNvPr>
          <p:cNvPicPr>
            <a:picLocks noGrp="1" noChangeAspect="1"/>
          </p:cNvPicPr>
          <p:nvPr>
            <p:ph idx="1"/>
          </p:nvPr>
        </p:nvPicPr>
        <p:blipFill>
          <a:blip r:embed="rId2"/>
          <a:srcRect l="26241" t="3800" r="27662" b="5806"/>
          <a:stretch>
            <a:fillRect/>
          </a:stretch>
        </p:blipFill>
        <p:spPr>
          <a:xfrm>
            <a:off x="2758191" y="419725"/>
            <a:ext cx="6280879" cy="6032287"/>
          </a:xfrm>
          <a:prstGeom prst="rect">
            <a:avLst/>
          </a:prstGeom>
        </p:spPr>
      </p:pic>
    </p:spTree>
    <p:extLst>
      <p:ext uri="{BB962C8B-B14F-4D97-AF65-F5344CB8AC3E}">
        <p14:creationId xmlns:p14="http://schemas.microsoft.com/office/powerpoint/2010/main" val="254158190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28D2909-BA43-7FC5-B63F-4F12460A9808}"/>
              </a:ext>
            </a:extLst>
          </p:cNvPr>
          <p:cNvPicPr>
            <a:picLocks noGrp="1" noChangeAspect="1"/>
          </p:cNvPicPr>
          <p:nvPr>
            <p:ph idx="1"/>
          </p:nvPr>
        </p:nvPicPr>
        <p:blipFill>
          <a:blip r:embed="rId2"/>
          <a:srcRect l="26242" t="6274" r="25144"/>
          <a:stretch>
            <a:fillRect/>
          </a:stretch>
        </p:blipFill>
        <p:spPr>
          <a:xfrm>
            <a:off x="2923083" y="163078"/>
            <a:ext cx="6026045" cy="6531843"/>
          </a:xfrm>
          <a:prstGeom prst="rect">
            <a:avLst/>
          </a:prstGeom>
        </p:spPr>
      </p:pic>
    </p:spTree>
    <p:extLst>
      <p:ext uri="{BB962C8B-B14F-4D97-AF65-F5344CB8AC3E}">
        <p14:creationId xmlns:p14="http://schemas.microsoft.com/office/powerpoint/2010/main" val="161976402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9F259-1867-BBAF-477E-63A68D65712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0A74D6C-CCB5-C366-8995-AD11455E0892}"/>
              </a:ext>
            </a:extLst>
          </p:cNvPr>
          <p:cNvPicPr>
            <a:picLocks noGrp="1" noChangeAspect="1"/>
          </p:cNvPicPr>
          <p:nvPr>
            <p:ph idx="1"/>
          </p:nvPr>
        </p:nvPicPr>
        <p:blipFill>
          <a:blip r:embed="rId2"/>
          <a:srcRect l="26241" t="5240" r="26112"/>
          <a:stretch>
            <a:fillRect/>
          </a:stretch>
        </p:blipFill>
        <p:spPr>
          <a:xfrm>
            <a:off x="2683239" y="0"/>
            <a:ext cx="6145968" cy="6572382"/>
          </a:xfrm>
          <a:prstGeom prst="rect">
            <a:avLst/>
          </a:prstGeom>
        </p:spPr>
      </p:pic>
    </p:spTree>
    <p:extLst>
      <p:ext uri="{BB962C8B-B14F-4D97-AF65-F5344CB8AC3E}">
        <p14:creationId xmlns:p14="http://schemas.microsoft.com/office/powerpoint/2010/main" val="305354655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723C66ED-DBBF-12CA-7F5E-813E0E7D036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7622"/>
            <a:ext cx="12192000" cy="6894986"/>
            <a:chOff x="0" y="-7622"/>
            <a:chExt cx="12192000" cy="6894986"/>
          </a:xfrm>
        </p:grpSpPr>
        <p:sp>
          <p:nvSpPr>
            <p:cNvPr id="11" name="Rectangle 10">
              <a:extLst>
                <a:ext uri="{FF2B5EF4-FFF2-40B4-BE49-F238E27FC236}">
                  <a16:creationId xmlns:a16="http://schemas.microsoft.com/office/drawing/2014/main" id="{E3002B52-2669-1ED7-2E0F-0627FC31DF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7621"/>
              <a:ext cx="12192000" cy="6887364"/>
            </a:xfrm>
            <a:prstGeom prst="rect">
              <a:avLst/>
            </a:prstGeom>
            <a:gradFill>
              <a:gsLst>
                <a:gs pos="8000">
                  <a:schemeClr val="accent5"/>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2E9EC0D-91EA-9D35-F655-335C580AB3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9" y="0"/>
              <a:ext cx="8216919" cy="6887364"/>
            </a:xfrm>
            <a:prstGeom prst="rect">
              <a:avLst/>
            </a:prstGeom>
            <a:gradFill flip="none" rotWithShape="1">
              <a:gsLst>
                <a:gs pos="0">
                  <a:schemeClr val="accent5">
                    <a:lumMod val="75000"/>
                    <a:alpha val="79000"/>
                  </a:schemeClr>
                </a:gs>
                <a:gs pos="40000">
                  <a:schemeClr val="accent5">
                    <a:lumMod val="60000"/>
                    <a:lumOff val="40000"/>
                    <a:alpha val="0"/>
                  </a:schemeClr>
                </a:gs>
              </a:gsLst>
              <a:lin ang="19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770627C-B480-1145-72DC-5B59DBE048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39978" y="-7622"/>
              <a:ext cx="8451623" cy="6887367"/>
            </a:xfrm>
            <a:prstGeom prst="rect">
              <a:avLst/>
            </a:prstGeom>
            <a:gradFill>
              <a:gsLst>
                <a:gs pos="0">
                  <a:schemeClr val="accent5">
                    <a:lumMod val="75000"/>
                    <a:alpha val="67000"/>
                  </a:schemeClr>
                </a:gs>
                <a:gs pos="60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9F81D39-93D1-019C-74DC-4710F53346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9127281" y="7060"/>
              <a:ext cx="3064320" cy="6872683"/>
            </a:xfrm>
            <a:prstGeom prst="rect">
              <a:avLst/>
            </a:prstGeom>
            <a:gradFill flip="none" rotWithShape="1">
              <a:gsLst>
                <a:gs pos="0">
                  <a:schemeClr val="accent2">
                    <a:alpha val="58000"/>
                  </a:schemeClr>
                </a:gs>
                <a:gs pos="41000">
                  <a:schemeClr val="accent2">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pic>
        <p:nvPicPr>
          <p:cNvPr id="5" name="Content Placeholder 4">
            <a:extLst>
              <a:ext uri="{FF2B5EF4-FFF2-40B4-BE49-F238E27FC236}">
                <a16:creationId xmlns:a16="http://schemas.microsoft.com/office/drawing/2014/main" id="{64B3A637-B0ED-E813-BBA2-FECADC9636A4}"/>
              </a:ext>
            </a:extLst>
          </p:cNvPr>
          <p:cNvPicPr>
            <a:picLocks noGrp="1" noChangeAspect="1"/>
          </p:cNvPicPr>
          <p:nvPr>
            <p:ph idx="1"/>
          </p:nvPr>
        </p:nvPicPr>
        <p:blipFill>
          <a:blip r:embed="rId2">
            <a:alphaModFix amt="59000"/>
          </a:blip>
          <a:srcRect l="427" r="2" b="2"/>
          <a:stretch>
            <a:fillRect/>
          </a:stretch>
        </p:blipFill>
        <p:spPr>
          <a:xfrm>
            <a:off x="20" y="-7624"/>
            <a:ext cx="12191981" cy="6887365"/>
          </a:xfrm>
          <a:prstGeom prst="rect">
            <a:avLst/>
          </a:prstGeom>
        </p:spPr>
      </p:pic>
    </p:spTree>
    <p:extLst>
      <p:ext uri="{BB962C8B-B14F-4D97-AF65-F5344CB8AC3E}">
        <p14:creationId xmlns:p14="http://schemas.microsoft.com/office/powerpoint/2010/main" val="250047434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723C66ED-DBBF-12CA-7F5E-813E0E7D036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7622"/>
            <a:ext cx="12192000" cy="6894986"/>
            <a:chOff x="0" y="-7622"/>
            <a:chExt cx="12192000" cy="6894986"/>
          </a:xfrm>
        </p:grpSpPr>
        <p:sp>
          <p:nvSpPr>
            <p:cNvPr id="11" name="Rectangle 10">
              <a:extLst>
                <a:ext uri="{FF2B5EF4-FFF2-40B4-BE49-F238E27FC236}">
                  <a16:creationId xmlns:a16="http://schemas.microsoft.com/office/drawing/2014/main" id="{E3002B52-2669-1ED7-2E0F-0627FC31DF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7621"/>
              <a:ext cx="12192000" cy="6887364"/>
            </a:xfrm>
            <a:prstGeom prst="rect">
              <a:avLst/>
            </a:prstGeom>
            <a:gradFill>
              <a:gsLst>
                <a:gs pos="8000">
                  <a:schemeClr val="accent5"/>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2E9EC0D-91EA-9D35-F655-335C580AB3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9" y="0"/>
              <a:ext cx="8216919" cy="6887364"/>
            </a:xfrm>
            <a:prstGeom prst="rect">
              <a:avLst/>
            </a:prstGeom>
            <a:gradFill flip="none" rotWithShape="1">
              <a:gsLst>
                <a:gs pos="0">
                  <a:schemeClr val="accent5">
                    <a:lumMod val="75000"/>
                    <a:alpha val="79000"/>
                  </a:schemeClr>
                </a:gs>
                <a:gs pos="40000">
                  <a:schemeClr val="accent5">
                    <a:lumMod val="60000"/>
                    <a:lumOff val="40000"/>
                    <a:alpha val="0"/>
                  </a:schemeClr>
                </a:gs>
              </a:gsLst>
              <a:lin ang="19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770627C-B480-1145-72DC-5B59DBE048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39978" y="-7622"/>
              <a:ext cx="8451623" cy="6887367"/>
            </a:xfrm>
            <a:prstGeom prst="rect">
              <a:avLst/>
            </a:prstGeom>
            <a:gradFill>
              <a:gsLst>
                <a:gs pos="0">
                  <a:schemeClr val="accent5">
                    <a:lumMod val="75000"/>
                    <a:alpha val="67000"/>
                  </a:schemeClr>
                </a:gs>
                <a:gs pos="60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9F81D39-93D1-019C-74DC-4710F53346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9127281" y="7060"/>
              <a:ext cx="3064320" cy="6872683"/>
            </a:xfrm>
            <a:prstGeom prst="rect">
              <a:avLst/>
            </a:prstGeom>
            <a:gradFill flip="none" rotWithShape="1">
              <a:gsLst>
                <a:gs pos="0">
                  <a:schemeClr val="accent2">
                    <a:alpha val="58000"/>
                  </a:schemeClr>
                </a:gs>
                <a:gs pos="41000">
                  <a:schemeClr val="accent2">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pic>
        <p:nvPicPr>
          <p:cNvPr id="5" name="Content Placeholder 4">
            <a:extLst>
              <a:ext uri="{FF2B5EF4-FFF2-40B4-BE49-F238E27FC236}">
                <a16:creationId xmlns:a16="http://schemas.microsoft.com/office/drawing/2014/main" id="{F7117196-8790-E5C0-A7A5-7C17207998A8}"/>
              </a:ext>
            </a:extLst>
          </p:cNvPr>
          <p:cNvPicPr>
            <a:picLocks noGrp="1" noChangeAspect="1"/>
          </p:cNvPicPr>
          <p:nvPr>
            <p:ph idx="1"/>
          </p:nvPr>
        </p:nvPicPr>
        <p:blipFill>
          <a:blip r:embed="rId2">
            <a:alphaModFix amt="59000"/>
          </a:blip>
          <a:srcRect l="427" r="2" b="2"/>
          <a:stretch>
            <a:fillRect/>
          </a:stretch>
        </p:blipFill>
        <p:spPr>
          <a:xfrm>
            <a:off x="20" y="-7624"/>
            <a:ext cx="12191981" cy="6887365"/>
          </a:xfrm>
          <a:prstGeom prst="rect">
            <a:avLst/>
          </a:prstGeom>
        </p:spPr>
      </p:pic>
    </p:spTree>
    <p:extLst>
      <p:ext uri="{BB962C8B-B14F-4D97-AF65-F5344CB8AC3E}">
        <p14:creationId xmlns:p14="http://schemas.microsoft.com/office/powerpoint/2010/main" val="103043488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723C66ED-DBBF-12CA-7F5E-813E0E7D036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7622"/>
            <a:ext cx="12192000" cy="6894986"/>
            <a:chOff x="0" y="-7622"/>
            <a:chExt cx="12192000" cy="6894986"/>
          </a:xfrm>
        </p:grpSpPr>
        <p:sp>
          <p:nvSpPr>
            <p:cNvPr id="11" name="Rectangle 10">
              <a:extLst>
                <a:ext uri="{FF2B5EF4-FFF2-40B4-BE49-F238E27FC236}">
                  <a16:creationId xmlns:a16="http://schemas.microsoft.com/office/drawing/2014/main" id="{E3002B52-2669-1ED7-2E0F-0627FC31DF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7621"/>
              <a:ext cx="12192000" cy="6887364"/>
            </a:xfrm>
            <a:prstGeom prst="rect">
              <a:avLst/>
            </a:prstGeom>
            <a:gradFill>
              <a:gsLst>
                <a:gs pos="8000">
                  <a:schemeClr val="accent5"/>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2E9EC0D-91EA-9D35-F655-335C580AB3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9" y="0"/>
              <a:ext cx="8216919" cy="6887364"/>
            </a:xfrm>
            <a:prstGeom prst="rect">
              <a:avLst/>
            </a:prstGeom>
            <a:gradFill flip="none" rotWithShape="1">
              <a:gsLst>
                <a:gs pos="0">
                  <a:schemeClr val="accent5">
                    <a:lumMod val="75000"/>
                    <a:alpha val="79000"/>
                  </a:schemeClr>
                </a:gs>
                <a:gs pos="40000">
                  <a:schemeClr val="accent5">
                    <a:lumMod val="60000"/>
                    <a:lumOff val="40000"/>
                    <a:alpha val="0"/>
                  </a:schemeClr>
                </a:gs>
              </a:gsLst>
              <a:lin ang="19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770627C-B480-1145-72DC-5B59DBE048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39978" y="-7622"/>
              <a:ext cx="8451623" cy="6887367"/>
            </a:xfrm>
            <a:prstGeom prst="rect">
              <a:avLst/>
            </a:prstGeom>
            <a:gradFill>
              <a:gsLst>
                <a:gs pos="0">
                  <a:schemeClr val="accent5">
                    <a:lumMod val="75000"/>
                    <a:alpha val="67000"/>
                  </a:schemeClr>
                </a:gs>
                <a:gs pos="60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9F81D39-93D1-019C-74DC-4710F53346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9127281" y="7060"/>
              <a:ext cx="3064320" cy="6872683"/>
            </a:xfrm>
            <a:prstGeom prst="rect">
              <a:avLst/>
            </a:prstGeom>
            <a:gradFill flip="none" rotWithShape="1">
              <a:gsLst>
                <a:gs pos="0">
                  <a:schemeClr val="accent2">
                    <a:alpha val="58000"/>
                  </a:schemeClr>
                </a:gs>
                <a:gs pos="41000">
                  <a:schemeClr val="accent2">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pic>
        <p:nvPicPr>
          <p:cNvPr id="5" name="Content Placeholder 4">
            <a:extLst>
              <a:ext uri="{FF2B5EF4-FFF2-40B4-BE49-F238E27FC236}">
                <a16:creationId xmlns:a16="http://schemas.microsoft.com/office/drawing/2014/main" id="{9A90FCA0-942E-0CA0-225B-6F500E5772A3}"/>
              </a:ext>
            </a:extLst>
          </p:cNvPr>
          <p:cNvPicPr>
            <a:picLocks noGrp="1" noChangeAspect="1"/>
          </p:cNvPicPr>
          <p:nvPr>
            <p:ph idx="1"/>
          </p:nvPr>
        </p:nvPicPr>
        <p:blipFill>
          <a:blip r:embed="rId2">
            <a:alphaModFix amt="59000"/>
          </a:blip>
          <a:srcRect l="427" r="2" b="2"/>
          <a:stretch>
            <a:fillRect/>
          </a:stretch>
        </p:blipFill>
        <p:spPr>
          <a:xfrm>
            <a:off x="20" y="-7624"/>
            <a:ext cx="12191981" cy="6887365"/>
          </a:xfrm>
          <a:prstGeom prst="rect">
            <a:avLst/>
          </a:prstGeom>
        </p:spPr>
      </p:pic>
    </p:spTree>
    <p:extLst>
      <p:ext uri="{BB962C8B-B14F-4D97-AF65-F5344CB8AC3E}">
        <p14:creationId xmlns:p14="http://schemas.microsoft.com/office/powerpoint/2010/main" val="215523787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descr="A screenshot of a computer game&#10;&#10;AI-generated content may be incorrect.">
            <a:extLst>
              <a:ext uri="{FF2B5EF4-FFF2-40B4-BE49-F238E27FC236}">
                <a16:creationId xmlns:a16="http://schemas.microsoft.com/office/drawing/2014/main" id="{C73DD975-B9BC-584B-469F-A31FE7592BCC}"/>
              </a:ext>
            </a:extLst>
          </p:cNvPr>
          <p:cNvPicPr>
            <a:picLocks noGrp="1" noChangeAspect="1"/>
          </p:cNvPicPr>
          <p:nvPr>
            <p:ph idx="1"/>
          </p:nvPr>
        </p:nvPicPr>
        <p:blipFill>
          <a:blip r:embed="rId2"/>
          <a:srcRect t="19"/>
          <a:stretch>
            <a:fillRect/>
          </a:stretch>
        </p:blipFill>
        <p:spPr>
          <a:xfrm>
            <a:off x="20" y="1282"/>
            <a:ext cx="12191980" cy="6856718"/>
          </a:xfrm>
          <a:prstGeom prst="rect">
            <a:avLst/>
          </a:prstGeom>
        </p:spPr>
      </p:pic>
    </p:spTree>
    <p:extLst>
      <p:ext uri="{BB962C8B-B14F-4D97-AF65-F5344CB8AC3E}">
        <p14:creationId xmlns:p14="http://schemas.microsoft.com/office/powerpoint/2010/main" val="422305005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2C9DEB9F-CC37-36A7-2939-2263505B44DA}"/>
              </a:ext>
            </a:extLst>
          </p:cNvPr>
          <p:cNvPicPr>
            <a:picLocks noGrp="1" noChangeAspect="1"/>
          </p:cNvPicPr>
          <p:nvPr>
            <p:ph idx="1"/>
          </p:nvPr>
        </p:nvPicPr>
        <p:blipFill>
          <a:blip r:embed="rId2"/>
          <a:srcRect t="19"/>
          <a:stretch>
            <a:fillRect/>
          </a:stretch>
        </p:blipFill>
        <p:spPr>
          <a:xfrm>
            <a:off x="20" y="1282"/>
            <a:ext cx="12191980" cy="6856718"/>
          </a:xfrm>
          <a:prstGeom prst="rect">
            <a:avLst/>
          </a:prstGeom>
        </p:spPr>
      </p:pic>
    </p:spTree>
    <p:extLst>
      <p:ext uri="{BB962C8B-B14F-4D97-AF65-F5344CB8AC3E}">
        <p14:creationId xmlns:p14="http://schemas.microsoft.com/office/powerpoint/2010/main" val="369555909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61E80E1-EDEF-6F0C-73CA-BD14FF568355}"/>
              </a:ext>
            </a:extLst>
          </p:cNvPr>
          <p:cNvPicPr>
            <a:picLocks noGrp="1" noChangeAspect="1"/>
          </p:cNvPicPr>
          <p:nvPr>
            <p:ph idx="1"/>
          </p:nvPr>
        </p:nvPicPr>
        <p:blipFill>
          <a:blip r:embed="rId2"/>
          <a:stretch>
            <a:fillRect/>
          </a:stretch>
        </p:blipFill>
        <p:spPr>
          <a:xfrm>
            <a:off x="635940" y="359215"/>
            <a:ext cx="10920119" cy="6139569"/>
          </a:xfrm>
          <a:prstGeom prst="rect">
            <a:avLst/>
          </a:prstGeom>
        </p:spPr>
      </p:pic>
    </p:spTree>
    <p:extLst>
      <p:ext uri="{BB962C8B-B14F-4D97-AF65-F5344CB8AC3E}">
        <p14:creationId xmlns:p14="http://schemas.microsoft.com/office/powerpoint/2010/main" val="227260123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0D9CF-DED6-2F28-2080-1D8BCBD8846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2FCB72F-2A8F-97C1-DFDE-7F83F9F7245F}"/>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401373607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03430-05E5-148C-BDDC-C897D43588A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28BE14D-C642-343F-7DF2-FD5E2CDC43AB}"/>
              </a:ext>
            </a:extLst>
          </p:cNvPr>
          <p:cNvSpPr>
            <a:spLocks noGrp="1"/>
          </p:cNvSpPr>
          <p:nvPr>
            <p:ph idx="1"/>
          </p:nvPr>
        </p:nvSpPr>
        <p:spPr/>
        <p:txBody>
          <a:bodyPr/>
          <a:lstStyle/>
          <a:p>
            <a:r>
              <a:rPr lang="en-IN" dirty="0"/>
              <a:t>https://github.com/https-deeplearning-ai/sc-gc-c4-gemini-public</a:t>
            </a:r>
          </a:p>
        </p:txBody>
      </p:sp>
    </p:spTree>
    <p:extLst>
      <p:ext uri="{BB962C8B-B14F-4D97-AF65-F5344CB8AC3E}">
        <p14:creationId xmlns:p14="http://schemas.microsoft.com/office/powerpoint/2010/main" val="40653615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Metadata/LabelInfo.xml><?xml version="1.0" encoding="utf-8"?>
<clbl:labelList xmlns:clbl="http://schemas.microsoft.com/office/2020/mipLabelMetadata">
  <clbl:label id="{c8f49a32-fde3-48a5-9266-b5b0972a22dc}" enabled="1" method="Standard" siteId="{5ae1af62-9505-4097-a69a-c1553ef7840e}" contentBits="2" removed="0"/>
</clbl:labelList>
</file>

<file path=docProps/app.xml><?xml version="1.0" encoding="utf-8"?>
<Properties xmlns="http://schemas.openxmlformats.org/officeDocument/2006/extended-properties" xmlns:vt="http://schemas.openxmlformats.org/officeDocument/2006/docPropsVTypes">
  <Template/>
  <TotalTime>540</TotalTime>
  <Words>2456</Words>
  <Application>Microsoft Office PowerPoint</Application>
  <PresentationFormat>Widescreen</PresentationFormat>
  <Paragraphs>144</Paragraphs>
  <Slides>114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114</vt:i4>
      </vt:variant>
    </vt:vector>
  </HeadingPairs>
  <TitlesOfParts>
    <vt:vector size="119" baseType="lpstr">
      <vt:lpstr>Aptos</vt:lpstr>
      <vt:lpstr>Aptos Display</vt:lpstr>
      <vt:lpstr>Arial</vt:lpstr>
      <vt:lpstr>Calibri</vt:lpstr>
      <vt:lpstr>Office Theme</vt:lpstr>
      <vt:lpstr>Breakthroughs In LLMS : Multimodal Capabilities And Cross Domain Learning</vt:lpstr>
      <vt:lpstr>Time line</vt:lpstr>
      <vt:lpstr>LLM</vt:lpstr>
      <vt:lpstr>Timeline of pretrained and fine-tuned LLM releases</vt:lpstr>
      <vt:lpstr>What Are MLLMs? </vt:lpstr>
      <vt:lpstr>PowerPoint Presentation</vt:lpstr>
      <vt:lpstr>PowerPoint Presentation</vt:lpstr>
      <vt:lpstr>PowerPoint Presentation</vt:lpstr>
      <vt:lpstr>PowerPoint Presentation</vt:lpstr>
      <vt:lpstr>Multimodal </vt:lpstr>
      <vt:lpstr>Multimodal</vt:lpstr>
      <vt:lpstr>Multimodal Embedding</vt:lpstr>
      <vt:lpstr>Multimodal Embeddings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Multimodal Pre-Training </vt:lpstr>
      <vt:lpstr>Video Tokenization Techniques </vt:lpstr>
      <vt:lpstr>Role of Positional Embeddings </vt:lpstr>
      <vt:lpstr>Embeddings In Production</vt:lpstr>
      <vt:lpstr>Embeddings In Production</vt:lpstr>
      <vt:lpstr>Embeddings In Production</vt:lpstr>
      <vt:lpstr>Multimodal Embedding</vt:lpstr>
      <vt:lpstr>Multimodal Embedding</vt:lpstr>
      <vt:lpstr>Multimodal Embedding</vt:lpstr>
      <vt:lpstr>Cross-Attention Layers</vt:lpstr>
      <vt:lpstr>CLIP</vt:lpstr>
      <vt:lpstr>Vision Encoders and Language Decoders</vt:lpstr>
      <vt:lpstr>. A timeline of representative MLLMs</vt:lpstr>
      <vt:lpstr>Training Methodologies and Data Requirements</vt:lpstr>
      <vt:lpstr>Training Methodologies and Data Requirements</vt:lpstr>
      <vt:lpstr>Pretraining on Multimodal Data</vt:lpstr>
      <vt:lpstr>Pretraining on Multimodal Data</vt:lpstr>
      <vt:lpstr>Contrastive Learning (CLIP, ALIGN)</vt:lpstr>
      <vt:lpstr>Contrastive Learning (CLIP, ALIGN)</vt:lpstr>
      <vt:lpstr>Masked Language Modeling (MLM) in Multimodal Large Language Model</vt:lpstr>
      <vt:lpstr>Visual Question Answering (VQA)</vt:lpstr>
      <vt:lpstr>Vision-and-Language Pretraining (VLP)</vt:lpstr>
      <vt:lpstr>Fine-Tuning for Specific Tasks</vt:lpstr>
      <vt:lpstr>Fine-Tuning for Specific Tasks</vt:lpstr>
      <vt:lpstr>Fine-Tuning for Specific Tasks</vt:lpstr>
      <vt:lpstr>Challenges in Data Curation:</vt:lpstr>
      <vt:lpstr>Challenges of Data Alignment</vt:lpstr>
      <vt:lpstr>An illustration of typical MLLM architecture.</vt:lpstr>
      <vt:lpstr>PowerPoint Presentation</vt:lpstr>
      <vt:lpstr>Basic Technical Framework Of Image-text Composite Retrieval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Mohammed Kareemullah -X (mkareemu - XORIANT CORPORATION at Cisco)</dc:creator>
  <cp:lastModifiedBy>Mohammed Kareemullah -X (mkareemu - XORIANT CORPORATION at Cisco)</cp:lastModifiedBy>
  <cp:revision>135</cp:revision>
  <dcterms:created xsi:type="dcterms:W3CDTF">2025-11-23T03:50:39Z</dcterms:created>
  <dcterms:modified xsi:type="dcterms:W3CDTF">2025-11-24T03:04:53Z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Cisco Confidential</vt:lpwstr>
  </property>
</Properties>
</file>